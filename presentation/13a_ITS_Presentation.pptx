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1446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777777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1446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777777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7237" y="2405062"/>
            <a:ext cx="10687050" cy="2752725"/>
          </a:xfrm>
          <a:custGeom>
            <a:avLst/>
            <a:gdLst/>
            <a:ahLst/>
            <a:cxnLst/>
            <a:rect l="l" t="t" r="r" b="b"/>
            <a:pathLst>
              <a:path w="10687050" h="2752725">
                <a:moveTo>
                  <a:pt x="10638091" y="2752725"/>
                </a:moveTo>
                <a:lnTo>
                  <a:pt x="48948" y="2752725"/>
                </a:lnTo>
                <a:lnTo>
                  <a:pt x="45540" y="2752391"/>
                </a:lnTo>
                <a:lnTo>
                  <a:pt x="10739" y="2732303"/>
                </a:lnTo>
                <a:lnTo>
                  <a:pt x="0" y="2703776"/>
                </a:lnTo>
                <a:lnTo>
                  <a:pt x="0" y="2700337"/>
                </a:lnTo>
                <a:lnTo>
                  <a:pt x="0" y="48948"/>
                </a:lnTo>
                <a:lnTo>
                  <a:pt x="17776" y="12915"/>
                </a:lnTo>
                <a:lnTo>
                  <a:pt x="48948" y="0"/>
                </a:lnTo>
                <a:lnTo>
                  <a:pt x="10638091" y="0"/>
                </a:lnTo>
                <a:lnTo>
                  <a:pt x="10674096" y="17773"/>
                </a:lnTo>
                <a:lnTo>
                  <a:pt x="10687050" y="48948"/>
                </a:lnTo>
                <a:lnTo>
                  <a:pt x="10687050" y="2703776"/>
                </a:lnTo>
                <a:lnTo>
                  <a:pt x="10669238" y="2739809"/>
                </a:lnTo>
                <a:lnTo>
                  <a:pt x="10641520" y="2752391"/>
                </a:lnTo>
                <a:lnTo>
                  <a:pt x="10638091" y="2752725"/>
                </a:lnTo>
                <a:close/>
              </a:path>
            </a:pathLst>
          </a:custGeom>
          <a:solidFill>
            <a:srgbClr val="F5F7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57237" y="2405062"/>
            <a:ext cx="10687050" cy="2752725"/>
          </a:xfrm>
          <a:custGeom>
            <a:avLst/>
            <a:gdLst/>
            <a:ahLst/>
            <a:cxnLst/>
            <a:rect l="l" t="t" r="r" b="b"/>
            <a:pathLst>
              <a:path w="10687050" h="2752725">
                <a:moveTo>
                  <a:pt x="0" y="2700337"/>
                </a:moveTo>
                <a:lnTo>
                  <a:pt x="0" y="52387"/>
                </a:lnTo>
                <a:lnTo>
                  <a:pt x="0" y="48948"/>
                </a:lnTo>
                <a:lnTo>
                  <a:pt x="335" y="45539"/>
                </a:lnTo>
                <a:lnTo>
                  <a:pt x="1006" y="42167"/>
                </a:lnTo>
                <a:lnTo>
                  <a:pt x="1677" y="38795"/>
                </a:lnTo>
                <a:lnTo>
                  <a:pt x="2671" y="35518"/>
                </a:lnTo>
                <a:lnTo>
                  <a:pt x="23282" y="8829"/>
                </a:lnTo>
                <a:lnTo>
                  <a:pt x="26142" y="6915"/>
                </a:lnTo>
                <a:lnTo>
                  <a:pt x="29161" y="5305"/>
                </a:lnTo>
                <a:lnTo>
                  <a:pt x="32339" y="3990"/>
                </a:lnTo>
                <a:lnTo>
                  <a:pt x="35517" y="2667"/>
                </a:lnTo>
                <a:lnTo>
                  <a:pt x="38793" y="1676"/>
                </a:lnTo>
                <a:lnTo>
                  <a:pt x="42167" y="1009"/>
                </a:lnTo>
                <a:lnTo>
                  <a:pt x="45540" y="333"/>
                </a:lnTo>
                <a:lnTo>
                  <a:pt x="48948" y="0"/>
                </a:lnTo>
                <a:lnTo>
                  <a:pt x="52387" y="0"/>
                </a:lnTo>
                <a:lnTo>
                  <a:pt x="10634662" y="0"/>
                </a:lnTo>
                <a:lnTo>
                  <a:pt x="10638091" y="0"/>
                </a:lnTo>
                <a:lnTo>
                  <a:pt x="10641520" y="333"/>
                </a:lnTo>
                <a:lnTo>
                  <a:pt x="10644854" y="1009"/>
                </a:lnTo>
                <a:lnTo>
                  <a:pt x="10648283" y="1676"/>
                </a:lnTo>
                <a:lnTo>
                  <a:pt x="10651521" y="2667"/>
                </a:lnTo>
                <a:lnTo>
                  <a:pt x="10654665" y="3990"/>
                </a:lnTo>
                <a:lnTo>
                  <a:pt x="10657903" y="5305"/>
                </a:lnTo>
                <a:lnTo>
                  <a:pt x="10684383" y="35518"/>
                </a:lnTo>
                <a:lnTo>
                  <a:pt x="10686002" y="42167"/>
                </a:lnTo>
                <a:lnTo>
                  <a:pt x="10686669" y="45539"/>
                </a:lnTo>
                <a:lnTo>
                  <a:pt x="10687050" y="48948"/>
                </a:lnTo>
                <a:lnTo>
                  <a:pt x="10687050" y="52387"/>
                </a:lnTo>
                <a:lnTo>
                  <a:pt x="10687050" y="2700337"/>
                </a:lnTo>
                <a:lnTo>
                  <a:pt x="10687050" y="2703776"/>
                </a:lnTo>
                <a:lnTo>
                  <a:pt x="10686669" y="2707185"/>
                </a:lnTo>
                <a:lnTo>
                  <a:pt x="10686002" y="2710557"/>
                </a:lnTo>
                <a:lnTo>
                  <a:pt x="10685335" y="2713929"/>
                </a:lnTo>
                <a:lnTo>
                  <a:pt x="10663809" y="2743895"/>
                </a:lnTo>
                <a:lnTo>
                  <a:pt x="10660951" y="2745809"/>
                </a:lnTo>
                <a:lnTo>
                  <a:pt x="10657903" y="2747419"/>
                </a:lnTo>
                <a:lnTo>
                  <a:pt x="10654665" y="2748734"/>
                </a:lnTo>
                <a:lnTo>
                  <a:pt x="10651521" y="2750048"/>
                </a:lnTo>
                <a:lnTo>
                  <a:pt x="10648283" y="2751048"/>
                </a:lnTo>
                <a:lnTo>
                  <a:pt x="10644854" y="2751715"/>
                </a:lnTo>
                <a:lnTo>
                  <a:pt x="10641520" y="2752391"/>
                </a:lnTo>
                <a:lnTo>
                  <a:pt x="10638091" y="2752725"/>
                </a:lnTo>
                <a:lnTo>
                  <a:pt x="10634662" y="2752725"/>
                </a:lnTo>
                <a:lnTo>
                  <a:pt x="52387" y="2752725"/>
                </a:lnTo>
                <a:lnTo>
                  <a:pt x="48948" y="2752725"/>
                </a:lnTo>
                <a:lnTo>
                  <a:pt x="45540" y="2752391"/>
                </a:lnTo>
                <a:lnTo>
                  <a:pt x="42167" y="2751715"/>
                </a:lnTo>
                <a:lnTo>
                  <a:pt x="38793" y="2751048"/>
                </a:lnTo>
                <a:lnTo>
                  <a:pt x="23282" y="2743895"/>
                </a:lnTo>
                <a:lnTo>
                  <a:pt x="20422" y="2741980"/>
                </a:lnTo>
                <a:lnTo>
                  <a:pt x="17776" y="2739809"/>
                </a:lnTo>
                <a:lnTo>
                  <a:pt x="15343" y="2737380"/>
                </a:lnTo>
                <a:lnTo>
                  <a:pt x="12911" y="2734951"/>
                </a:lnTo>
                <a:lnTo>
                  <a:pt x="1006" y="2710557"/>
                </a:lnTo>
                <a:lnTo>
                  <a:pt x="335" y="2707185"/>
                </a:lnTo>
                <a:lnTo>
                  <a:pt x="0" y="2703776"/>
                </a:lnTo>
                <a:lnTo>
                  <a:pt x="0" y="2700337"/>
                </a:lnTo>
                <a:close/>
              </a:path>
            </a:pathLst>
          </a:custGeom>
          <a:ln w="9525">
            <a:solidFill>
              <a:srgbClr val="D0D9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1446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777777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1" i="0">
                <a:solidFill>
                  <a:srgbClr val="21446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777777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rgbClr val="777777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5012" y="1483640"/>
            <a:ext cx="4079240" cy="950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1" i="0">
                <a:solidFill>
                  <a:srgbClr val="21446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4375" y="2428875"/>
            <a:ext cx="10048875" cy="269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3050" y="6415270"/>
            <a:ext cx="3152140" cy="230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rgbClr val="666666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613610" y="6341777"/>
            <a:ext cx="342900" cy="29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rgbClr val="777777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2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2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917605"/>
            <a:ext cx="6369050" cy="6013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I</a:t>
            </a:r>
            <a:r>
              <a:rPr dirty="0" sz="3650" spc="-190">
                <a:latin typeface="Arial"/>
                <a:cs typeface="Arial"/>
              </a:rPr>
              <a:t>nt</a:t>
            </a:r>
            <a:r>
              <a:rPr dirty="0" sz="3750" spc="-190">
                <a:latin typeface="Arial"/>
                <a:cs typeface="Arial"/>
              </a:rPr>
              <a:t>e</a:t>
            </a:r>
            <a:r>
              <a:rPr dirty="0" sz="3650" spc="-190">
                <a:latin typeface="Arial"/>
                <a:cs typeface="Arial"/>
              </a:rPr>
              <a:t>ll</a:t>
            </a:r>
            <a:r>
              <a:rPr dirty="0" sz="3750" spc="-190">
                <a:latin typeface="Arial"/>
                <a:cs typeface="Arial"/>
              </a:rPr>
              <a:t>ige</a:t>
            </a:r>
            <a:r>
              <a:rPr dirty="0" sz="3650" spc="-190">
                <a:latin typeface="Arial"/>
                <a:cs typeface="Arial"/>
              </a:rPr>
              <a:t>nt</a:t>
            </a:r>
            <a:r>
              <a:rPr dirty="0" sz="3650" spc="-229">
                <a:latin typeface="Arial"/>
                <a:cs typeface="Arial"/>
              </a:rPr>
              <a:t> </a:t>
            </a:r>
            <a:r>
              <a:rPr dirty="0" sz="3650" spc="-250">
                <a:latin typeface="Bodoni MT"/>
                <a:cs typeface="Bodoni MT"/>
              </a:rPr>
              <a:t>T</a:t>
            </a:r>
            <a:r>
              <a:rPr dirty="0" sz="3650" spc="-250">
                <a:latin typeface="Arial"/>
                <a:cs typeface="Arial"/>
              </a:rPr>
              <a:t>utor</a:t>
            </a:r>
            <a:r>
              <a:rPr dirty="0" sz="3750" spc="-250">
                <a:latin typeface="Arial"/>
                <a:cs typeface="Arial"/>
              </a:rPr>
              <a:t>i</a:t>
            </a:r>
            <a:r>
              <a:rPr dirty="0" sz="3650" spc="-250">
                <a:latin typeface="Arial"/>
                <a:cs typeface="Arial"/>
              </a:rPr>
              <a:t>n</a:t>
            </a:r>
            <a:r>
              <a:rPr dirty="0" sz="3750" spc="-250">
                <a:latin typeface="Arial"/>
                <a:cs typeface="Arial"/>
              </a:rPr>
              <a:t>g</a:t>
            </a:r>
            <a:r>
              <a:rPr dirty="0" sz="3750" spc="-254">
                <a:latin typeface="Arial"/>
                <a:cs typeface="Arial"/>
              </a:rPr>
              <a:t> </a:t>
            </a:r>
            <a:r>
              <a:rPr dirty="0" spc="-135"/>
              <a:t>S</a:t>
            </a:r>
            <a:r>
              <a:rPr dirty="0" sz="3650" spc="-135">
                <a:latin typeface="Arial"/>
                <a:cs typeface="Arial"/>
              </a:rPr>
              <a:t>yst</a:t>
            </a:r>
            <a:r>
              <a:rPr dirty="0" sz="3750" spc="-135">
                <a:latin typeface="Arial"/>
                <a:cs typeface="Arial"/>
              </a:rPr>
              <a:t>e</a:t>
            </a:r>
            <a:r>
              <a:rPr dirty="0" sz="3650" spc="-135">
                <a:latin typeface="Arial"/>
                <a:cs typeface="Arial"/>
              </a:rPr>
              <a:t>m</a:t>
            </a:r>
            <a:r>
              <a:rPr dirty="0" sz="3650" spc="-229">
                <a:latin typeface="Arial"/>
                <a:cs typeface="Arial"/>
              </a:rPr>
              <a:t> </a:t>
            </a:r>
            <a:r>
              <a:rPr dirty="0" spc="160"/>
              <a:t>-</a:t>
            </a:r>
            <a:r>
              <a:rPr dirty="0" spc="-325"/>
              <a:t> </a:t>
            </a:r>
            <a:r>
              <a:rPr dirty="0" spc="-25"/>
              <a:t>I</a:t>
            </a:r>
            <a:r>
              <a:rPr dirty="0" sz="3650" spc="-25">
                <a:latin typeface="Bodoni MT"/>
                <a:cs typeface="Bodoni MT"/>
              </a:rPr>
              <a:t>T</a:t>
            </a:r>
            <a:r>
              <a:rPr dirty="0" spc="-25"/>
              <a:t>S</a:t>
            </a:r>
            <a:endParaRPr sz="3650">
              <a:latin typeface="Bodoni MT"/>
              <a:cs typeface="Bodoni M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2742814"/>
            <a:ext cx="7460615" cy="210185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2300" spc="-75" b="1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75" b="1">
                <a:solidFill>
                  <a:srgbClr val="1F2328"/>
                </a:solidFill>
                <a:latin typeface="Arial"/>
                <a:cs typeface="Arial"/>
              </a:rPr>
              <a:t>ôn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220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220" b="1">
                <a:solidFill>
                  <a:srgbClr val="1F2328"/>
                </a:solidFill>
                <a:latin typeface="Arial"/>
                <a:cs typeface="Arial"/>
              </a:rPr>
              <a:t>ọ</a:t>
            </a:r>
            <a:r>
              <a:rPr dirty="0" sz="2350" spc="-220" b="1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2300" spc="-22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iến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rúc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hần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ềm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CO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3017)</a:t>
            </a:r>
            <a:endParaRPr sz="2300">
              <a:latin typeface="Gill Sans MT"/>
              <a:cs typeface="Gill Sans MT"/>
            </a:endParaRPr>
          </a:p>
          <a:p>
            <a:pPr marL="12700" marR="5080">
              <a:lnSpc>
                <a:spcPct val="114399"/>
              </a:lnSpc>
              <a:spcBef>
                <a:spcPts val="75"/>
              </a:spcBef>
            </a:pPr>
            <a:r>
              <a:rPr dirty="0" sz="2300" spc="-270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270" b="1">
                <a:solidFill>
                  <a:srgbClr val="1F2328"/>
                </a:solidFill>
                <a:latin typeface="Arial"/>
                <a:cs typeface="Arial"/>
              </a:rPr>
              <a:t>rườn</a:t>
            </a:r>
            <a:r>
              <a:rPr dirty="0" sz="2350" spc="-270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00" spc="-27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30">
                <a:solidFill>
                  <a:srgbClr val="1F2328"/>
                </a:solidFill>
                <a:latin typeface="Arial"/>
                <a:cs typeface="Arial"/>
              </a:rPr>
              <a:t>ại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ách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hoa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TP</a:t>
            </a:r>
            <a:r>
              <a:rPr dirty="0" sz="2300">
                <a:solidFill>
                  <a:srgbClr val="1F2328"/>
                </a:solidFill>
                <a:latin typeface="Gill Sans MT"/>
                <a:cs typeface="Gill Sans MT"/>
              </a:rPr>
              <a:t>.</a:t>
            </a: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HCM</a:t>
            </a:r>
            <a:r>
              <a:rPr dirty="0" sz="2300" spc="-17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hoa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hoa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áy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tính </a:t>
            </a:r>
            <a:r>
              <a:rPr dirty="0" sz="2300" spc="-180" b="1">
                <a:solidFill>
                  <a:srgbClr val="1F2328"/>
                </a:solidFill>
                <a:latin typeface="Trebuchet MS"/>
                <a:cs typeface="Trebuchet MS"/>
              </a:rPr>
              <a:t>N</a:t>
            </a:r>
            <a:r>
              <a:rPr dirty="0" sz="2350" spc="-180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180" b="1">
                <a:solidFill>
                  <a:srgbClr val="1F2328"/>
                </a:solidFill>
                <a:latin typeface="Arial"/>
                <a:cs typeface="Arial"/>
              </a:rPr>
              <a:t>óm</a:t>
            </a:r>
            <a:r>
              <a:rPr dirty="0" sz="2300" spc="-18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Gill Sans MT"/>
                <a:cs typeface="Gill Sans MT"/>
              </a:rPr>
              <a:t>13</a:t>
            </a:r>
            <a:endParaRPr sz="2300">
              <a:latin typeface="Gill Sans MT"/>
              <a:cs typeface="Gill Sans MT"/>
            </a:endParaRPr>
          </a:p>
          <a:p>
            <a:pPr marL="12700" marR="2961640">
              <a:lnSpc>
                <a:spcPct val="114399"/>
              </a:lnSpc>
              <a:spcBef>
                <a:spcPts val="75"/>
              </a:spcBef>
            </a:pPr>
            <a:r>
              <a:rPr dirty="0" sz="2300" spc="-8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90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190" b="1">
                <a:solidFill>
                  <a:srgbClr val="1F2328"/>
                </a:solidFill>
                <a:latin typeface="Arial"/>
                <a:cs typeface="Arial"/>
              </a:rPr>
              <a:t>iê</a:t>
            </a:r>
            <a:r>
              <a:rPr dirty="0" sz="2300" spc="-19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9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N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guyễn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7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70">
                <a:solidFill>
                  <a:srgbClr val="1F2328"/>
                </a:solidFill>
                <a:latin typeface="Arial"/>
                <a:cs typeface="Arial"/>
              </a:rPr>
              <a:t>ấn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45">
                <a:solidFill>
                  <a:srgbClr val="1F2328"/>
                </a:solidFill>
                <a:latin typeface="Arial"/>
                <a:cs typeface="Arial"/>
              </a:rPr>
              <a:t>ài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90">
                <a:solidFill>
                  <a:srgbClr val="1F2328"/>
                </a:solidFill>
                <a:latin typeface="Gill Sans MT"/>
                <a:cs typeface="Gill Sans MT"/>
              </a:rPr>
              <a:t>2212990 </a:t>
            </a:r>
            <a:r>
              <a:rPr dirty="0" sz="2300" spc="-204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204" b="1">
                <a:solidFill>
                  <a:srgbClr val="1F2328"/>
                </a:solidFill>
                <a:latin typeface="Arial"/>
                <a:cs typeface="Arial"/>
              </a:rPr>
              <a:t>ờ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195" b="1">
                <a:solidFill>
                  <a:srgbClr val="1F2328"/>
                </a:solidFill>
                <a:latin typeface="Arial"/>
                <a:cs typeface="Arial"/>
              </a:rPr>
              <a:t>gia</a:t>
            </a:r>
            <a:r>
              <a:rPr dirty="0" sz="2300" spc="-19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9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45">
                <a:solidFill>
                  <a:srgbClr val="1F2328"/>
                </a:solidFill>
                <a:latin typeface="Gill Sans MT"/>
                <a:cs typeface="Gill Sans MT"/>
              </a:rPr>
              <a:t>12/2025</a:t>
            </a:r>
            <a:endParaRPr sz="2300">
              <a:latin typeface="Gill Sans MT"/>
              <a:cs typeface="Gill Sans MT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35012" y="2641505"/>
            <a:ext cx="420243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80" b="1">
                <a:solidFill>
                  <a:srgbClr val="214466"/>
                </a:solidFill>
                <a:latin typeface="Trebuchet MS"/>
                <a:cs typeface="Trebuchet MS"/>
              </a:rPr>
              <a:t>1.</a:t>
            </a:r>
            <a:r>
              <a:rPr dirty="0" sz="3700" spc="-55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650" spc="-365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650" spc="-365" b="1">
                <a:solidFill>
                  <a:srgbClr val="214466"/>
                </a:solidFill>
                <a:latin typeface="Arial"/>
                <a:cs typeface="Arial"/>
              </a:rPr>
              <a:t>óm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190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750" spc="-190" b="1">
                <a:solidFill>
                  <a:srgbClr val="214466"/>
                </a:solidFill>
                <a:latin typeface="Arial"/>
                <a:cs typeface="Arial"/>
              </a:rPr>
              <a:t>ắ</a:t>
            </a:r>
            <a:r>
              <a:rPr dirty="0" sz="3650" spc="-190" b="1">
                <a:solidFill>
                  <a:srgbClr val="214466"/>
                </a:solidFill>
                <a:latin typeface="Arial"/>
                <a:cs typeface="Arial"/>
              </a:rPr>
              <a:t>t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310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650" spc="-310" b="1">
                <a:solidFill>
                  <a:srgbClr val="214466"/>
                </a:solidFill>
                <a:latin typeface="Arial"/>
                <a:cs typeface="Arial"/>
              </a:rPr>
              <a:t>ổn</a:t>
            </a:r>
            <a:r>
              <a:rPr dirty="0" sz="3750" spc="-310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r>
              <a:rPr dirty="0" sz="3750" spc="-28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45" b="1">
                <a:solidFill>
                  <a:srgbClr val="214466"/>
                </a:solidFill>
                <a:latin typeface="Trebuchet MS"/>
                <a:cs typeface="Trebuchet MS"/>
              </a:rPr>
              <a:t>Q</a:t>
            </a:r>
            <a:r>
              <a:rPr dirty="0" sz="3650" spc="-145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750" spc="-145" b="1">
                <a:solidFill>
                  <a:srgbClr val="214466"/>
                </a:solidFill>
                <a:latin typeface="Arial"/>
                <a:cs typeface="Arial"/>
              </a:rPr>
              <a:t>a</a:t>
            </a:r>
            <a:r>
              <a:rPr dirty="0" sz="3650" spc="-145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endParaRPr sz="36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5012" y="3560090"/>
            <a:ext cx="3232150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80" b="1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3000" spc="-180" b="1">
                <a:solidFill>
                  <a:srgbClr val="1F2328"/>
                </a:solidFill>
                <a:latin typeface="Arial"/>
                <a:cs typeface="Arial"/>
              </a:rPr>
              <a:t>x</a:t>
            </a:r>
            <a:r>
              <a:rPr dirty="0" sz="3050" spc="-180" b="1">
                <a:solidFill>
                  <a:srgbClr val="1F2328"/>
                </a:solidFill>
                <a:latin typeface="Arial"/>
                <a:cs typeface="Arial"/>
              </a:rPr>
              <a:t>ec</a:t>
            </a:r>
            <a:r>
              <a:rPr dirty="0" sz="3000" spc="-180" b="1">
                <a:solidFill>
                  <a:srgbClr val="1F2328"/>
                </a:solidFill>
                <a:latin typeface="Arial"/>
                <a:cs typeface="Arial"/>
              </a:rPr>
              <a:t>ut</a:t>
            </a:r>
            <a:r>
              <a:rPr dirty="0" sz="3050" spc="-18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80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3050" spc="-180" b="1">
                <a:solidFill>
                  <a:srgbClr val="1F2328"/>
                </a:solidFill>
                <a:latin typeface="Arial"/>
                <a:cs typeface="Arial"/>
              </a:rPr>
              <a:t>e </a:t>
            </a:r>
            <a:r>
              <a:rPr dirty="0" sz="3000" spc="-120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3000" spc="-120" b="1">
                <a:solidFill>
                  <a:srgbClr val="1F2328"/>
                </a:solidFill>
                <a:latin typeface="Arial"/>
                <a:cs typeface="Arial"/>
              </a:rPr>
              <a:t>umm</a:t>
            </a:r>
            <a:r>
              <a:rPr dirty="0" sz="3050" spc="-12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20" b="1">
                <a:solidFill>
                  <a:srgbClr val="1F2328"/>
                </a:solidFill>
                <a:latin typeface="Arial"/>
                <a:cs typeface="Arial"/>
              </a:rPr>
              <a:t>ry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1809750"/>
            <a:ext cx="4876799" cy="3238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2159915"/>
            <a:ext cx="261429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265">
                <a:solidFill>
                  <a:srgbClr val="1F2328"/>
                </a:solidFill>
              </a:rPr>
              <a:t>T</a:t>
            </a:r>
            <a:r>
              <a:rPr dirty="0" sz="3050" spc="-265">
                <a:solidFill>
                  <a:srgbClr val="1F2328"/>
                </a:solidFill>
                <a:latin typeface="Arial"/>
                <a:cs typeface="Arial"/>
              </a:rPr>
              <a:t>ầ</a:t>
            </a:r>
            <a:r>
              <a:rPr dirty="0" sz="3000" spc="-265">
                <a:solidFill>
                  <a:srgbClr val="1F2328"/>
                </a:solidFill>
                <a:latin typeface="Arial"/>
                <a:cs typeface="Arial"/>
              </a:rPr>
              <a:t>m</a:t>
            </a:r>
            <a:r>
              <a:rPr dirty="0" sz="300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75">
                <a:solidFill>
                  <a:srgbClr val="1F2328"/>
                </a:solidFill>
              </a:rPr>
              <a:t>N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hì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54">
                <a:solidFill>
                  <a:srgbClr val="1F2328"/>
                </a:solidFill>
              </a:rPr>
              <a:t>D</a:t>
            </a:r>
            <a:r>
              <a:rPr dirty="0" sz="3000" spc="-254">
                <a:solidFill>
                  <a:srgbClr val="1F2328"/>
                </a:solidFill>
                <a:latin typeface="Arial"/>
                <a:cs typeface="Arial"/>
              </a:rPr>
              <a:t>ự</a:t>
            </a:r>
            <a:r>
              <a:rPr dirty="0" sz="300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40">
                <a:solidFill>
                  <a:srgbClr val="1F2328"/>
                </a:solidFill>
              </a:rPr>
              <a:t>Á</a:t>
            </a:r>
            <a:r>
              <a:rPr dirty="0" sz="3000" spc="-40">
                <a:solidFill>
                  <a:srgbClr val="1F2328"/>
                </a:solidFill>
                <a:latin typeface="Arial"/>
                <a:cs typeface="Arial"/>
              </a:rPr>
              <a:t>n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1051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865275"/>
            <a:ext cx="5107305" cy="174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7955">
              <a:lnSpc>
                <a:spcPct val="116799"/>
              </a:lnSpc>
              <a:spcBef>
                <a:spcPts val="100"/>
              </a:spcBef>
            </a:pP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X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ây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dựng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hệ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thống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tập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thông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minh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cá 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nhân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hóa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trải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nghiệm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từng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5">
                <a:solidFill>
                  <a:srgbClr val="1F2328"/>
                </a:solidFill>
                <a:latin typeface="Arial"/>
                <a:cs typeface="Arial"/>
              </a:rPr>
              <a:t>người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16799"/>
              </a:lnSpc>
              <a:spcBef>
                <a:spcPts val="600"/>
              </a:spcBef>
            </a:pP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>
                <a:solidFill>
                  <a:srgbClr val="1F2328"/>
                </a:solidFill>
                <a:latin typeface="Arial"/>
                <a:cs typeface="Arial"/>
              </a:rPr>
              <a:t>ục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tiêu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phục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vụ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05">
                <a:solidFill>
                  <a:srgbClr val="1F2328"/>
                </a:solidFill>
                <a:latin typeface="Gill Sans MT"/>
                <a:cs typeface="Gill Sans MT"/>
              </a:rPr>
              <a:t>5,000+</a:t>
            </a:r>
            <a:r>
              <a:rPr dirty="0" sz="2300" spc="-13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85">
                <a:solidFill>
                  <a:srgbClr val="1F2328"/>
                </a:solidFill>
                <a:latin typeface="Arial"/>
                <a:cs typeface="Arial"/>
              </a:rPr>
              <a:t>người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dùng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đồng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thời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với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thời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gian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phản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hồi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&lt;</a:t>
            </a:r>
            <a:r>
              <a:rPr dirty="0" sz="2300" spc="-12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500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ms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93240"/>
            <a:ext cx="298196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204">
                <a:solidFill>
                  <a:srgbClr val="1F2328"/>
                </a:solidFill>
              </a:rPr>
              <a:t>T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hách</a:t>
            </a:r>
            <a:r>
              <a:rPr dirty="0" sz="3050" spc="-2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90">
                <a:solidFill>
                  <a:srgbClr val="1F2328"/>
                </a:solidFill>
              </a:rPr>
              <a:t>T</a:t>
            </a:r>
            <a:r>
              <a:rPr dirty="0" sz="3050" spc="-290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00" spc="-290">
                <a:solidFill>
                  <a:srgbClr val="1F2328"/>
                </a:solidFill>
                <a:latin typeface="Arial"/>
                <a:cs typeface="Arial"/>
              </a:rPr>
              <a:t>ứ</a:t>
            </a:r>
            <a:r>
              <a:rPr dirty="0" sz="3050" spc="-290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F2328"/>
                </a:solidFill>
              </a:rPr>
              <a:t>C</a:t>
            </a:r>
            <a:r>
              <a:rPr dirty="0" sz="3050" spc="-120">
                <a:solidFill>
                  <a:srgbClr val="1F2328"/>
                </a:solidFill>
                <a:latin typeface="Arial"/>
                <a:cs typeface="Arial"/>
              </a:rPr>
              <a:t>hí</a:t>
            </a:r>
            <a:r>
              <a:rPr dirty="0" sz="3000" spc="-12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20">
                <a:solidFill>
                  <a:srgbClr val="1F2328"/>
                </a:solidFill>
                <a:latin typeface="Arial"/>
                <a:cs typeface="Arial"/>
              </a:rPr>
              <a:t>h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02895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08199"/>
            <a:ext cx="6075680" cy="19742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135"/>
              </a:spcBef>
            </a:pP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ảm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bảo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hiệu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năng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cao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với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30">
                <a:solidFill>
                  <a:srgbClr val="1F2328"/>
                </a:solidFill>
                <a:latin typeface="Gill Sans MT"/>
                <a:cs typeface="Gill Sans MT"/>
              </a:rPr>
              <a:t>5,000</a:t>
            </a:r>
            <a:r>
              <a:rPr dirty="0" sz="2300" spc="-12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concurrent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Arial"/>
                <a:cs typeface="Arial"/>
              </a:rPr>
              <a:t>users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hiết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kế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kiến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trúc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60">
                <a:solidFill>
                  <a:srgbClr val="1F2328"/>
                </a:solidFill>
                <a:latin typeface="Arial"/>
                <a:cs typeface="Arial"/>
              </a:rPr>
              <a:t>mở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rộng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theo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chiều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ngang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H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ỗ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trợ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cập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nhật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mô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hình </a:t>
            </a: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AI</a:t>
            </a:r>
            <a:r>
              <a:rPr dirty="0" sz="2300" spc="-18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không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downtime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300" spc="-18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uân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thủ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nguyên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tắc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SOLID</a:t>
            </a:r>
            <a:r>
              <a:rPr dirty="0" sz="2300" spc="-15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lean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rchitecture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514725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4862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9236" y="1740001"/>
            <a:ext cx="4728199" cy="33807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712240"/>
            <a:ext cx="314452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35">
                <a:solidFill>
                  <a:srgbClr val="1F2328"/>
                </a:solidFill>
              </a:rPr>
              <a:t>G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iải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70">
                <a:solidFill>
                  <a:srgbClr val="1F2328"/>
                </a:solidFill>
              </a:rPr>
              <a:t>P</a:t>
            </a:r>
            <a:r>
              <a:rPr dirty="0" sz="3050" spc="-170">
                <a:solidFill>
                  <a:srgbClr val="1F2328"/>
                </a:solidFill>
                <a:latin typeface="Arial"/>
                <a:cs typeface="Arial"/>
              </a:rPr>
              <a:t>há</a:t>
            </a:r>
            <a:r>
              <a:rPr dirty="0" sz="3000" spc="-170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65">
                <a:solidFill>
                  <a:srgbClr val="1F2328"/>
                </a:solidFill>
              </a:rPr>
              <a:t>K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iế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10">
                <a:solidFill>
                  <a:srgbClr val="1F2328"/>
                </a:solidFill>
              </a:rPr>
              <a:t>T</a:t>
            </a:r>
            <a:r>
              <a:rPr dirty="0" sz="3000" spc="-210">
                <a:solidFill>
                  <a:srgbClr val="1F2328"/>
                </a:solidFill>
                <a:latin typeface="Arial"/>
                <a:cs typeface="Arial"/>
              </a:rPr>
              <a:t>rú</a:t>
            </a:r>
            <a:r>
              <a:rPr dirty="0" sz="3050" spc="-210">
                <a:solidFill>
                  <a:srgbClr val="1F2328"/>
                </a:solidFill>
                <a:latin typeface="Arial"/>
                <a:cs typeface="Arial"/>
              </a:rPr>
              <a:t>c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6479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399914"/>
            <a:ext cx="5182870" cy="26530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64845">
              <a:lnSpc>
                <a:spcPct val="117000"/>
              </a:lnSpc>
              <a:spcBef>
                <a:spcPts val="95"/>
              </a:spcBef>
            </a:pP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H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y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b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id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ic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ros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00" spc="-9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kết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hợp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 b="1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30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3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30" b="1">
                <a:solidFill>
                  <a:srgbClr val="1F2328"/>
                </a:solidFill>
                <a:latin typeface="Arial"/>
                <a:cs typeface="Arial"/>
              </a:rPr>
              <a:t>nt</a:t>
            </a:r>
            <a:r>
              <a:rPr dirty="0" sz="2300" spc="-30" b="1">
                <a:solidFill>
                  <a:srgbClr val="1F2328"/>
                </a:solidFill>
                <a:latin typeface="Trebuchet MS"/>
                <a:cs typeface="Trebuchet MS"/>
              </a:rPr>
              <a:t>- 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 b="1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3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35" b="1">
                <a:solidFill>
                  <a:srgbClr val="1F2328"/>
                </a:solidFill>
                <a:latin typeface="Arial"/>
                <a:cs typeface="Arial"/>
              </a:rPr>
              <a:t>chi</a:t>
            </a:r>
            <a:r>
              <a:rPr dirty="0" sz="2300" spc="-35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35" b="1">
                <a:solidFill>
                  <a:srgbClr val="1F2328"/>
                </a:solidFill>
                <a:latin typeface="Arial"/>
                <a:cs typeface="Arial"/>
              </a:rPr>
              <a:t>ec</a:t>
            </a:r>
            <a:r>
              <a:rPr dirty="0" sz="2300" spc="-35" b="1">
                <a:solidFill>
                  <a:srgbClr val="1F2328"/>
                </a:solidFill>
                <a:latin typeface="Arial"/>
                <a:cs typeface="Arial"/>
              </a:rPr>
              <a:t>tur</a:t>
            </a:r>
            <a:r>
              <a:rPr dirty="0" sz="2350" spc="-3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endParaRPr sz="2350">
              <a:latin typeface="Arial"/>
              <a:cs typeface="Arial"/>
            </a:endParaRPr>
          </a:p>
          <a:p>
            <a:pPr marL="12700" marR="5080">
              <a:lnSpc>
                <a:spcPct val="116799"/>
              </a:lnSpc>
              <a:spcBef>
                <a:spcPts val="595"/>
              </a:spcBef>
            </a:pP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olyglot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rogramming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:</a:t>
            </a:r>
            <a:r>
              <a:rPr dirty="0" sz="2300" spc="-11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Trebuchet MS"/>
                <a:cs typeface="Trebuchet MS"/>
              </a:rPr>
              <a:t>J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ava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35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pring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oot</a:t>
            </a:r>
            <a:r>
              <a:rPr dirty="0" sz="2300" spc="-45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r>
              <a:rPr dirty="0" sz="2300" spc="-11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Gill Sans MT"/>
                <a:cs typeface="Gill Sans MT"/>
              </a:rPr>
              <a:t>+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in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2300">
              <a:latin typeface="Gill Sans MT"/>
              <a:cs typeface="Gill Sans MT"/>
            </a:endParaRPr>
          </a:p>
          <a:p>
            <a:pPr marL="12700" marR="969644">
              <a:lnSpc>
                <a:spcPct val="116799"/>
              </a:lnSpc>
              <a:spcBef>
                <a:spcPts val="600"/>
              </a:spcBef>
            </a:pP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ostgre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SQL</a:t>
            </a:r>
            <a:r>
              <a:rPr dirty="0" sz="2300" spc="-15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+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R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abbit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MQ</a:t>
            </a:r>
            <a:r>
              <a:rPr dirty="0" sz="2300" spc="-14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async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communication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552825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4481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6577965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335" b="1">
                <a:solidFill>
                  <a:srgbClr val="214466"/>
                </a:solidFill>
                <a:latin typeface="Trebuchet MS"/>
                <a:cs typeface="Trebuchet MS"/>
              </a:rPr>
              <a:t>2.</a:t>
            </a:r>
            <a:r>
              <a:rPr dirty="0" sz="3700" spc="-54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220" b="1">
                <a:solidFill>
                  <a:srgbClr val="214466"/>
                </a:solidFill>
                <a:latin typeface="Trebuchet MS"/>
                <a:cs typeface="Trebuchet MS"/>
              </a:rPr>
              <a:t>P</a:t>
            </a:r>
            <a:r>
              <a:rPr dirty="0" sz="3750" spc="-220" b="1">
                <a:solidFill>
                  <a:srgbClr val="214466"/>
                </a:solidFill>
                <a:latin typeface="Arial"/>
                <a:cs typeface="Arial"/>
              </a:rPr>
              <a:t>hâ</a:t>
            </a:r>
            <a:r>
              <a:rPr dirty="0" sz="3650" spc="-22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240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750" spc="-240" b="1">
                <a:solidFill>
                  <a:srgbClr val="214466"/>
                </a:solidFill>
                <a:latin typeface="Arial"/>
                <a:cs typeface="Arial"/>
              </a:rPr>
              <a:t>ích</a:t>
            </a:r>
            <a:r>
              <a:rPr dirty="0" sz="3750" spc="-27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80" b="1">
                <a:solidFill>
                  <a:srgbClr val="214466"/>
                </a:solidFill>
                <a:latin typeface="Trebuchet MS"/>
                <a:cs typeface="Trebuchet MS"/>
              </a:rPr>
              <a:t>B</a:t>
            </a:r>
            <a:r>
              <a:rPr dirty="0" sz="3650" spc="-180" b="1">
                <a:solidFill>
                  <a:srgbClr val="214466"/>
                </a:solidFill>
                <a:latin typeface="Arial"/>
                <a:cs typeface="Arial"/>
              </a:rPr>
              <a:t>ố</a:t>
            </a:r>
            <a:r>
              <a:rPr dirty="0" sz="3750" spc="-180" b="1">
                <a:solidFill>
                  <a:srgbClr val="214466"/>
                </a:solidFill>
                <a:latin typeface="Arial"/>
                <a:cs typeface="Arial"/>
              </a:rPr>
              <a:t>i</a:t>
            </a:r>
            <a:r>
              <a:rPr dirty="0" sz="3750" spc="-27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55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750" spc="-155" b="1">
                <a:solidFill>
                  <a:srgbClr val="214466"/>
                </a:solidFill>
                <a:latin typeface="Arial"/>
                <a:cs typeface="Arial"/>
              </a:rPr>
              <a:t>ả</a:t>
            </a:r>
            <a:r>
              <a:rPr dirty="0" sz="3650" spc="-155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750" spc="-155" b="1">
                <a:solidFill>
                  <a:srgbClr val="214466"/>
                </a:solidFill>
                <a:latin typeface="Arial"/>
                <a:cs typeface="Arial"/>
              </a:rPr>
              <a:t>h</a:t>
            </a:r>
            <a:r>
              <a:rPr dirty="0" sz="3750" spc="-27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250" b="1">
                <a:solidFill>
                  <a:srgbClr val="214466"/>
                </a:solidFill>
                <a:latin typeface="Arial"/>
                <a:cs typeface="Arial"/>
              </a:rPr>
              <a:t>v</a:t>
            </a:r>
            <a:r>
              <a:rPr dirty="0" sz="3750" spc="-250" b="1">
                <a:solidFill>
                  <a:srgbClr val="214466"/>
                </a:solidFill>
                <a:latin typeface="Arial"/>
                <a:cs typeface="Arial"/>
              </a:rPr>
              <a:t>à</a:t>
            </a:r>
            <a:r>
              <a:rPr dirty="0" sz="3750" spc="-27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310" b="1">
                <a:solidFill>
                  <a:srgbClr val="214466"/>
                </a:solidFill>
                <a:latin typeface="Bodoni MT"/>
                <a:cs typeface="Bodoni MT"/>
              </a:rPr>
              <a:t>Y</a:t>
            </a:r>
            <a:r>
              <a:rPr dirty="0" sz="3750" spc="-310" b="1">
                <a:solidFill>
                  <a:srgbClr val="214466"/>
                </a:solidFill>
                <a:latin typeface="Arial"/>
                <a:cs typeface="Arial"/>
              </a:rPr>
              <a:t>ê</a:t>
            </a:r>
            <a:r>
              <a:rPr dirty="0" sz="3650" spc="-310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5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750" spc="-25" b="1">
                <a:solidFill>
                  <a:srgbClr val="214466"/>
                </a:solidFill>
                <a:latin typeface="Arial"/>
                <a:cs typeface="Arial"/>
              </a:rPr>
              <a:t>ầ</a:t>
            </a:r>
            <a:r>
              <a:rPr dirty="0" sz="3650" spc="-25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endParaRPr sz="3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331365"/>
            <a:ext cx="2792730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90" b="1">
                <a:solidFill>
                  <a:srgbClr val="1F2328"/>
                </a:solidFill>
                <a:latin typeface="Trebuchet MS"/>
                <a:cs typeface="Trebuchet MS"/>
              </a:rPr>
              <a:t>V</a:t>
            </a:r>
            <a:r>
              <a:rPr dirty="0" sz="3050" spc="-19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90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50" spc="-19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90" b="1">
                <a:solidFill>
                  <a:srgbClr val="1F2328"/>
                </a:solidFill>
                <a:latin typeface="Arial"/>
                <a:cs typeface="Arial"/>
              </a:rPr>
              <a:t>on</a:t>
            </a:r>
            <a:r>
              <a:rPr dirty="0" sz="3000" spc="-16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90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3000" spc="-9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9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9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9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90" b="1">
                <a:solidFill>
                  <a:srgbClr val="1F2328"/>
                </a:solidFill>
                <a:latin typeface="Arial"/>
                <a:cs typeface="Arial"/>
              </a:rPr>
              <a:t>m</a:t>
            </a:r>
            <a:r>
              <a:rPr dirty="0" sz="3050" spc="-9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90" b="1">
                <a:solidFill>
                  <a:srgbClr val="1F2328"/>
                </a:solidFill>
                <a:latin typeface="Arial"/>
                <a:cs typeface="Arial"/>
              </a:rPr>
              <a:t>nt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0794"/>
            <a:ext cx="7080250" cy="14636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55"/>
              </a:spcBef>
            </a:pPr>
            <a:r>
              <a:rPr dirty="0" sz="2300" spc="-19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90">
                <a:solidFill>
                  <a:srgbClr val="1F2328"/>
                </a:solidFill>
                <a:latin typeface="Arial"/>
                <a:cs typeface="Arial"/>
              </a:rPr>
              <a:t>ái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hiện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trải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nghiệm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>
                <a:solidFill>
                  <a:srgbClr val="1F2328"/>
                </a:solidFill>
                <a:latin typeface="Gill Sans MT"/>
                <a:cs typeface="Gill Sans MT"/>
              </a:rPr>
              <a:t>1-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kèm</a:t>
            </a:r>
            <a:r>
              <a:rPr dirty="0" sz="2300" spc="-8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1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giữa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5">
                <a:solidFill>
                  <a:srgbClr val="1F2328"/>
                </a:solidFill>
                <a:latin typeface="Arial"/>
                <a:cs typeface="Arial"/>
              </a:rPr>
              <a:t>người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gia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40">
                <a:solidFill>
                  <a:srgbClr val="1F2328"/>
                </a:solidFill>
                <a:latin typeface="Arial"/>
                <a:cs typeface="Arial"/>
              </a:rPr>
              <a:t>sư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Trebuchet MS"/>
                <a:cs typeface="Trebuchet MS"/>
              </a:rPr>
              <a:t>AI </a:t>
            </a:r>
            <a:r>
              <a:rPr dirty="0" sz="2300" spc="-185">
                <a:solidFill>
                  <a:srgbClr val="1F2328"/>
                </a:solidFill>
                <a:latin typeface="Trebuchet MS"/>
                <a:cs typeface="Trebuchet MS"/>
              </a:rPr>
              <a:t>H</a:t>
            </a:r>
            <a:r>
              <a:rPr dirty="0" sz="2300" spc="-185">
                <a:solidFill>
                  <a:srgbClr val="1F2328"/>
                </a:solidFill>
                <a:latin typeface="Arial"/>
                <a:cs typeface="Arial"/>
              </a:rPr>
              <a:t>ướng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dẫn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theo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đúng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tốc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độ</a:t>
            </a:r>
            <a:r>
              <a:rPr dirty="0" sz="2300" spc="-8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3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năng </a:t>
            </a:r>
            <a:r>
              <a:rPr dirty="0" sz="2300" spc="-165">
                <a:solidFill>
                  <a:srgbClr val="1F2328"/>
                </a:solidFill>
                <a:latin typeface="Arial"/>
                <a:cs typeface="Arial"/>
              </a:rPr>
              <a:t>lực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45">
                <a:solidFill>
                  <a:srgbClr val="1F2328"/>
                </a:solidFill>
                <a:latin typeface="Arial"/>
                <a:cs typeface="Arial"/>
              </a:rPr>
              <a:t>sở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thích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cá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nhân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ở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rộng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phục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vụ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hàng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nghìn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5">
                <a:solidFill>
                  <a:srgbClr val="1F2328"/>
                </a:solidFill>
                <a:latin typeface="Arial"/>
                <a:cs typeface="Arial"/>
              </a:rPr>
              <a:t>người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dùng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đồng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thời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31365"/>
            <a:ext cx="342328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50">
                <a:solidFill>
                  <a:srgbClr val="1F2328"/>
                </a:solidFill>
              </a:rPr>
              <a:t>B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ố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35">
                <a:solidFill>
                  <a:srgbClr val="1F2328"/>
                </a:solidFill>
              </a:rPr>
              <a:t>C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85">
                <a:solidFill>
                  <a:srgbClr val="1F2328"/>
                </a:solidFill>
              </a:rPr>
              <a:t>K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45">
                <a:solidFill>
                  <a:srgbClr val="1F2328"/>
                </a:solidFill>
              </a:rPr>
              <a:t>D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h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1414"/>
            <a:ext cx="8305800" cy="1463675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2300" spc="-120" b="1">
                <a:solidFill>
                  <a:srgbClr val="1F2328"/>
                </a:solidFill>
                <a:latin typeface="Trebuchet MS"/>
                <a:cs typeface="Trebuchet MS"/>
              </a:rPr>
              <a:t>N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cầ</a:t>
            </a:r>
            <a:r>
              <a:rPr dirty="0" sz="2300" spc="-204" b="1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2300" spc="-204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90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9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learning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cá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nhân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hóa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đang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bùng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nổ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2300" spc="-90" b="1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90" b="1">
                <a:solidFill>
                  <a:srgbClr val="1F2328"/>
                </a:solidFill>
                <a:latin typeface="Arial"/>
                <a:cs typeface="Arial"/>
              </a:rPr>
              <a:t>ố</a:t>
            </a:r>
            <a:r>
              <a:rPr dirty="0" sz="2350" spc="-9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4" b="1">
                <a:solidFill>
                  <a:srgbClr val="1F2328"/>
                </a:solidFill>
                <a:latin typeface="Arial"/>
                <a:cs typeface="Arial"/>
              </a:rPr>
              <a:t>tượn</a:t>
            </a:r>
            <a:r>
              <a:rPr dirty="0" sz="2350" spc="-254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00" spc="-254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Trebuchet MS"/>
                <a:cs typeface="Trebuchet MS"/>
              </a:rPr>
              <a:t>H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ọc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sinh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45">
                <a:solidFill>
                  <a:srgbClr val="1F2328"/>
                </a:solidFill>
                <a:latin typeface="Gill Sans MT"/>
                <a:cs typeface="Gill Sans MT"/>
              </a:rPr>
              <a:t>12,</a:t>
            </a:r>
            <a:r>
              <a:rPr dirty="0" sz="2300" spc="-22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sinh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viên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đại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8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giảng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viên</a:t>
            </a:r>
            <a:r>
              <a:rPr dirty="0" sz="2300" spc="-9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admin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300" spc="-150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50" spc="-150" b="1">
                <a:solidFill>
                  <a:srgbClr val="1F2328"/>
                </a:solidFill>
                <a:latin typeface="Arial"/>
                <a:cs typeface="Arial"/>
              </a:rPr>
              <a:t>iê</a:t>
            </a:r>
            <a:r>
              <a:rPr dirty="0" sz="2300" spc="-150" b="1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165" b="1">
                <a:solidFill>
                  <a:srgbClr val="1F2328"/>
                </a:solidFill>
                <a:latin typeface="Arial"/>
                <a:cs typeface="Arial"/>
              </a:rPr>
              <a:t>chí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hà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h 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2300" spc="-204" b="1">
                <a:solidFill>
                  <a:srgbClr val="1F2328"/>
                </a:solidFill>
                <a:latin typeface="Arial"/>
                <a:cs typeface="Arial"/>
              </a:rPr>
              <a:t>ôn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00" spc="-204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130">
                <a:solidFill>
                  <a:srgbClr val="1F2328"/>
                </a:solidFill>
                <a:latin typeface="Gill Sans MT"/>
                <a:cs typeface="Gill Sans MT"/>
              </a:rPr>
              <a:t>5,000</a:t>
            </a:r>
            <a:r>
              <a:rPr dirty="0" sz="2300" spc="-12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65">
                <a:solidFill>
                  <a:srgbClr val="1F2328"/>
                </a:solidFill>
                <a:latin typeface="Trebuchet MS"/>
                <a:cs typeface="Trebuchet MS"/>
              </a:rPr>
              <a:t>CCU</a:t>
            </a:r>
            <a:r>
              <a:rPr dirty="0" sz="2300" spc="6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75">
                <a:solidFill>
                  <a:srgbClr val="1F2328"/>
                </a:solidFill>
                <a:latin typeface="Trebuchet MS"/>
                <a:cs typeface="Trebuchet MS"/>
              </a:rPr>
              <a:t>SLA</a:t>
            </a:r>
            <a:r>
              <a:rPr dirty="0" sz="2300" spc="-17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60">
                <a:solidFill>
                  <a:srgbClr val="1F2328"/>
                </a:solidFill>
                <a:latin typeface="Gill Sans MT"/>
                <a:cs typeface="Gill Sans MT"/>
              </a:rPr>
              <a:t>99.5</a:t>
            </a:r>
            <a:r>
              <a:rPr dirty="0" sz="2300" spc="60">
                <a:solidFill>
                  <a:srgbClr val="1F2328"/>
                </a:solidFill>
                <a:latin typeface="Georgia"/>
                <a:cs typeface="Georgia"/>
              </a:rPr>
              <a:t>%</a:t>
            </a:r>
            <a:r>
              <a:rPr dirty="0" sz="2300" spc="6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cải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thiện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1F2328"/>
                </a:solidFill>
                <a:latin typeface="Gill Sans MT"/>
                <a:cs typeface="Gill Sans MT"/>
              </a:rPr>
              <a:t>40</a:t>
            </a:r>
            <a:r>
              <a:rPr dirty="0" sz="2300" spc="80">
                <a:solidFill>
                  <a:srgbClr val="1F2328"/>
                </a:solidFill>
                <a:latin typeface="Georgia"/>
                <a:cs typeface="Georgia"/>
              </a:rPr>
              <a:t>%</a:t>
            </a:r>
            <a:r>
              <a:rPr dirty="0" sz="2300" spc="-40">
                <a:solidFill>
                  <a:srgbClr val="1F2328"/>
                </a:solidFill>
                <a:latin typeface="Georgia"/>
                <a:cs typeface="Georgia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retention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000109"/>
            <a:ext cx="6095999" cy="4857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674140"/>
            <a:ext cx="299339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50">
                <a:solidFill>
                  <a:srgbClr val="1F2328"/>
                </a:solidFill>
              </a:rPr>
              <a:t>B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ố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50" spc="-2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35">
                <a:solidFill>
                  <a:srgbClr val="1F2328"/>
                </a:solidFill>
              </a:rPr>
              <a:t>C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55">
                <a:solidFill>
                  <a:srgbClr val="1F2328"/>
                </a:solidFill>
              </a:rPr>
              <a:t>K</a:t>
            </a:r>
            <a:r>
              <a:rPr dirty="0" sz="3000" spc="-155">
                <a:solidFill>
                  <a:srgbClr val="1F2328"/>
                </a:solidFill>
                <a:latin typeface="Arial"/>
                <a:cs typeface="Arial"/>
              </a:rPr>
              <a:t>ỹ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45">
                <a:solidFill>
                  <a:srgbClr val="1F2328"/>
                </a:solidFill>
              </a:rPr>
              <a:t>T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ậ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t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619375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304044"/>
            <a:ext cx="3778250" cy="27870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90"/>
              </a:spcBef>
            </a:pPr>
            <a:r>
              <a:rPr dirty="0" sz="2300" spc="-11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ích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hợp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20">
                <a:solidFill>
                  <a:srgbClr val="1F2328"/>
                </a:solidFill>
                <a:latin typeface="Trebuchet MS"/>
                <a:cs typeface="Trebuchet MS"/>
              </a:rPr>
              <a:t>LMS</a:t>
            </a:r>
            <a:r>
              <a:rPr dirty="0" sz="2300" spc="-17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hiện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có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qua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Trebuchet MS"/>
                <a:cs typeface="Trebuchet MS"/>
              </a:rPr>
              <a:t>API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uth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ervice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với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JWT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OA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uth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2</a:t>
            </a:r>
            <a:endParaRPr sz="2300">
              <a:latin typeface="Gill Sans MT"/>
              <a:cs typeface="Gill Sans MT"/>
            </a:endParaRPr>
          </a:p>
          <a:p>
            <a:pPr marL="12700" marR="5080">
              <a:lnSpc>
                <a:spcPct val="119600"/>
              </a:lnSpc>
              <a:spcBef>
                <a:spcPts val="450"/>
              </a:spcBef>
            </a:pP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ubernetes cho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auto</a:t>
            </a:r>
            <a:r>
              <a:rPr dirty="0" sz="2300" spc="-4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scaling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và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CI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CD</a:t>
            </a:r>
            <a:endParaRPr sz="2300">
              <a:latin typeface="Trebuchet MS"/>
              <a:cs typeface="Trebuchet MS"/>
            </a:endParaRPr>
          </a:p>
          <a:p>
            <a:pPr marL="12700" marR="226695">
              <a:lnSpc>
                <a:spcPct val="116799"/>
              </a:lnSpc>
              <a:spcBef>
                <a:spcPts val="600"/>
              </a:spcBef>
            </a:pP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rometheus</a:t>
            </a:r>
            <a:r>
              <a:rPr dirty="0" sz="2300" spc="-95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rafana</a:t>
            </a:r>
            <a:r>
              <a:rPr dirty="0" sz="2300" spc="-95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oki</a:t>
            </a:r>
            <a:r>
              <a:rPr dirty="0" sz="2300" spc="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cho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observability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1051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581400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486275"/>
            <a:ext cx="85725" cy="8572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626999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310" b="1">
                <a:solidFill>
                  <a:srgbClr val="214466"/>
                </a:solidFill>
                <a:latin typeface="Trebuchet MS"/>
                <a:cs typeface="Trebuchet MS"/>
              </a:rPr>
              <a:t>3.</a:t>
            </a:r>
            <a:r>
              <a:rPr dirty="0" sz="3700" spc="-54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220" b="1">
                <a:solidFill>
                  <a:srgbClr val="214466"/>
                </a:solidFill>
                <a:latin typeface="Trebuchet MS"/>
                <a:cs typeface="Trebuchet MS"/>
              </a:rPr>
              <a:t>P</a:t>
            </a:r>
            <a:r>
              <a:rPr dirty="0" sz="3750" spc="-220" b="1">
                <a:solidFill>
                  <a:srgbClr val="214466"/>
                </a:solidFill>
                <a:latin typeface="Arial"/>
                <a:cs typeface="Arial"/>
              </a:rPr>
              <a:t>hâ</a:t>
            </a:r>
            <a:r>
              <a:rPr dirty="0" sz="3650" spc="-22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240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750" spc="-240" b="1">
                <a:solidFill>
                  <a:srgbClr val="214466"/>
                </a:solidFill>
                <a:latin typeface="Arial"/>
                <a:cs typeface="Arial"/>
              </a:rPr>
              <a:t>ích</a:t>
            </a:r>
            <a:r>
              <a:rPr dirty="0" sz="3750" spc="-27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90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750" spc="-90" b="1">
                <a:solidFill>
                  <a:srgbClr val="214466"/>
                </a:solidFill>
                <a:latin typeface="Arial"/>
                <a:cs typeface="Arial"/>
              </a:rPr>
              <a:t>ác</a:t>
            </a:r>
            <a:r>
              <a:rPr dirty="0" sz="3750" spc="-27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65" b="1">
                <a:solidFill>
                  <a:srgbClr val="214466"/>
                </a:solidFill>
                <a:latin typeface="Trebuchet MS"/>
                <a:cs typeface="Trebuchet MS"/>
              </a:rPr>
              <a:t>B</a:t>
            </a:r>
            <a:r>
              <a:rPr dirty="0" sz="3750" spc="-165" b="1">
                <a:solidFill>
                  <a:srgbClr val="214466"/>
                </a:solidFill>
                <a:latin typeface="Arial"/>
                <a:cs typeface="Arial"/>
              </a:rPr>
              <a:t>ê</a:t>
            </a:r>
            <a:r>
              <a:rPr dirty="0" sz="3650" spc="-165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20" b="1">
                <a:solidFill>
                  <a:srgbClr val="214466"/>
                </a:solidFill>
                <a:latin typeface="Trebuchet MS"/>
                <a:cs typeface="Trebuchet MS"/>
              </a:rPr>
              <a:t>L</a:t>
            </a:r>
            <a:r>
              <a:rPr dirty="0" sz="3750" spc="-220" b="1">
                <a:solidFill>
                  <a:srgbClr val="214466"/>
                </a:solidFill>
                <a:latin typeface="Arial"/>
                <a:cs typeface="Arial"/>
              </a:rPr>
              <a:t>iê</a:t>
            </a:r>
            <a:r>
              <a:rPr dirty="0" sz="3650" spc="-22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30" b="1">
                <a:solidFill>
                  <a:srgbClr val="214466"/>
                </a:solidFill>
                <a:latin typeface="Trebuchet MS"/>
                <a:cs typeface="Trebuchet MS"/>
              </a:rPr>
              <a:t>Q</a:t>
            </a:r>
            <a:r>
              <a:rPr dirty="0" sz="3650" spc="-130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750" spc="-130" b="1">
                <a:solidFill>
                  <a:srgbClr val="214466"/>
                </a:solidFill>
                <a:latin typeface="Arial"/>
                <a:cs typeface="Arial"/>
              </a:rPr>
              <a:t>a</a:t>
            </a:r>
            <a:r>
              <a:rPr dirty="0" sz="3650" spc="-13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endParaRPr sz="3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35">
                <a:solidFill>
                  <a:srgbClr val="1F2328"/>
                </a:solidFill>
              </a:rPr>
              <a:t>M</a:t>
            </a:r>
            <a:r>
              <a:rPr dirty="0" sz="3050" spc="-3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50" spc="-2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54">
                <a:solidFill>
                  <a:srgbClr val="1F2328"/>
                </a:solidFill>
              </a:rPr>
              <a:t>T</a:t>
            </a:r>
            <a:r>
              <a:rPr dirty="0" sz="3000" spc="-254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254">
                <a:solidFill>
                  <a:srgbClr val="1F2328"/>
                </a:solidFill>
                <a:latin typeface="Arial"/>
                <a:cs typeface="Arial"/>
              </a:rPr>
              <a:t>ậ</a:t>
            </a:r>
            <a:r>
              <a:rPr dirty="0" sz="3000" spc="-254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35">
                <a:solidFill>
                  <a:srgbClr val="1F2328"/>
                </a:solidFill>
              </a:rPr>
              <a:t>S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akeh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ol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de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r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790825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476114"/>
            <a:ext cx="7290434" cy="24447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35"/>
              </a:spcBef>
            </a:pP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ea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rn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(C</a:t>
            </a:r>
            <a:r>
              <a:rPr dirty="0" sz="2350" spc="-10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/C</a:t>
            </a:r>
            <a:r>
              <a:rPr dirty="0" sz="2350" spc="-10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):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6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65">
                <a:solidFill>
                  <a:srgbClr val="1F2328"/>
                </a:solidFill>
                <a:latin typeface="Arial"/>
                <a:cs typeface="Arial"/>
              </a:rPr>
              <a:t>rải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nghiệm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cá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nhân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hóa</a:t>
            </a:r>
            <a:r>
              <a:rPr dirty="0" sz="2300" spc="-11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phản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hồi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nhanh 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nstru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tor 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(C</a:t>
            </a:r>
            <a:r>
              <a:rPr dirty="0" sz="2350" spc="-10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/C</a:t>
            </a:r>
            <a:r>
              <a:rPr dirty="0" sz="2350" spc="-10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):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Q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uản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lý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nội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dung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báo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cáo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hiệu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suất </a:t>
            </a:r>
            <a:r>
              <a:rPr dirty="0" sz="2300" spc="-145" b="1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d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m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 b="1">
                <a:solidFill>
                  <a:srgbClr val="1F2328"/>
                </a:solidFill>
                <a:latin typeface="Trebuchet MS"/>
                <a:cs typeface="Trebuchet MS"/>
              </a:rPr>
              <a:t>(TB/C</a:t>
            </a:r>
            <a:r>
              <a:rPr dirty="0" sz="2350" spc="-105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05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05" b="1">
                <a:solidFill>
                  <a:srgbClr val="1F2328"/>
                </a:solidFill>
                <a:latin typeface="Trebuchet MS"/>
                <a:cs typeface="Trebuchet MS"/>
              </a:rPr>
              <a:t>):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ảo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mật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chi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phí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khả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năng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60">
                <a:solidFill>
                  <a:srgbClr val="1F2328"/>
                </a:solidFill>
                <a:latin typeface="Arial"/>
                <a:cs typeface="Arial"/>
              </a:rPr>
              <a:t>mở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rộng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300" spc="-45" b="1">
                <a:solidFill>
                  <a:srgbClr val="1F2328"/>
                </a:solidFill>
                <a:latin typeface="Trebuchet MS"/>
                <a:cs typeface="Trebuchet MS"/>
              </a:rPr>
              <a:t>AI</a:t>
            </a:r>
            <a:r>
              <a:rPr dirty="0" sz="2300" spc="-18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45" b="1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gi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ee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(TB/TB):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ích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hợp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thuật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toán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mới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300" spc="-8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yst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m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 b="1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110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10" b="1">
                <a:solidFill>
                  <a:srgbClr val="1F2328"/>
                </a:solidFill>
                <a:latin typeface="Arial"/>
                <a:cs typeface="Arial"/>
              </a:rPr>
              <a:t>chi</a:t>
            </a:r>
            <a:r>
              <a:rPr dirty="0" sz="2300" spc="-11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10" b="1">
                <a:solidFill>
                  <a:srgbClr val="1F2328"/>
                </a:solidFill>
                <a:latin typeface="Arial"/>
                <a:cs typeface="Arial"/>
              </a:rPr>
              <a:t>ec</a:t>
            </a:r>
            <a:r>
              <a:rPr dirty="0" sz="2300" spc="-11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 b="1">
                <a:solidFill>
                  <a:srgbClr val="1F2328"/>
                </a:solidFill>
                <a:latin typeface="Trebuchet MS"/>
                <a:cs typeface="Trebuchet MS"/>
              </a:rPr>
              <a:t>(TB/C</a:t>
            </a:r>
            <a:r>
              <a:rPr dirty="0" sz="2350" spc="-105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05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05" b="1">
                <a:solidFill>
                  <a:srgbClr val="1F2328"/>
                </a:solidFill>
                <a:latin typeface="Trebuchet MS"/>
                <a:cs typeface="Trebuchet MS"/>
              </a:rPr>
              <a:t>):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ảm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bảo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lean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rchitecture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724400"/>
            <a:ext cx="85725" cy="8572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9095" y="598575"/>
            <a:ext cx="5650629" cy="556351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2131340"/>
            <a:ext cx="324485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40">
                <a:solidFill>
                  <a:srgbClr val="1F2328"/>
                </a:solidFill>
              </a:rPr>
              <a:t>C</a:t>
            </a:r>
            <a:r>
              <a:rPr dirty="0" sz="3050" spc="-140">
                <a:solidFill>
                  <a:srgbClr val="1F2328"/>
                </a:solidFill>
                <a:latin typeface="Arial"/>
                <a:cs typeface="Arial"/>
              </a:rPr>
              <a:t>hiế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60">
                <a:solidFill>
                  <a:srgbClr val="1F2328"/>
                </a:solidFill>
              </a:rPr>
              <a:t>L</a:t>
            </a:r>
            <a:r>
              <a:rPr dirty="0" sz="3000" spc="-360">
                <a:solidFill>
                  <a:srgbClr val="1F2328"/>
                </a:solidFill>
                <a:latin typeface="Arial"/>
                <a:cs typeface="Arial"/>
              </a:rPr>
              <a:t>ượ</a:t>
            </a:r>
            <a:r>
              <a:rPr dirty="0" sz="3050" spc="-360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80">
                <a:solidFill>
                  <a:srgbClr val="1F2328"/>
                </a:solidFill>
              </a:rPr>
              <a:t>Q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3050" spc="-180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50">
                <a:solidFill>
                  <a:srgbClr val="1F2328"/>
                </a:solidFill>
              </a:rPr>
              <a:t>L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ý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0670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824883"/>
            <a:ext cx="3913504" cy="181991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811530">
              <a:lnSpc>
                <a:spcPct val="116100"/>
              </a:lnSpc>
              <a:spcBef>
                <a:spcPts val="75"/>
              </a:spcBef>
            </a:pPr>
            <a:r>
              <a:rPr dirty="0" sz="2300" spc="-110" b="1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50" spc="-11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1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10" b="1">
                <a:solidFill>
                  <a:srgbClr val="1F2328"/>
                </a:solidFill>
                <a:latin typeface="Arial"/>
                <a:cs typeface="Arial"/>
              </a:rPr>
              <a:t>age</a:t>
            </a:r>
            <a:r>
              <a:rPr dirty="0" sz="2350" spc="-10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los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ly</a:t>
            </a: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earner</a:t>
            </a:r>
            <a:r>
              <a:rPr dirty="0" sz="2300" spc="-95">
                <a:solidFill>
                  <a:srgbClr val="1F2328"/>
                </a:solidFill>
                <a:latin typeface="Gill Sans MT"/>
                <a:cs typeface="Gill Sans MT"/>
              </a:rPr>
              <a:t>,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nstructor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35600"/>
              </a:lnSpc>
              <a:spcBef>
                <a:spcPts val="10"/>
              </a:spcBef>
            </a:pP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ee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2300" spc="-10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1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1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1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10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50" spc="-110" b="1">
                <a:solidFill>
                  <a:srgbClr val="1F2328"/>
                </a:solidFill>
                <a:latin typeface="Arial"/>
                <a:cs typeface="Arial"/>
              </a:rPr>
              <a:t>fied</a:t>
            </a:r>
            <a:r>
              <a:rPr dirty="0" sz="2300" spc="-11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dmin</a:t>
            </a:r>
            <a:r>
              <a:rPr dirty="0" sz="2300" spc="-7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30">
                <a:solidFill>
                  <a:srgbClr val="1F2328"/>
                </a:solidFill>
                <a:latin typeface="Arial"/>
                <a:cs typeface="Arial"/>
              </a:rPr>
              <a:t>rchitect 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ee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2300" spc="-17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70" b="1">
                <a:solidFill>
                  <a:srgbClr val="1F2328"/>
                </a:solidFill>
                <a:latin typeface="Arial"/>
                <a:cs typeface="Arial"/>
              </a:rPr>
              <a:t>f</a:t>
            </a:r>
            <a:r>
              <a:rPr dirty="0" sz="2300" spc="-170" b="1">
                <a:solidFill>
                  <a:srgbClr val="1F2328"/>
                </a:solidFill>
                <a:latin typeface="Arial"/>
                <a:cs typeface="Arial"/>
              </a:rPr>
              <a:t>orm</a:t>
            </a:r>
            <a:r>
              <a:rPr dirty="0" sz="2350" spc="-170" b="1">
                <a:solidFill>
                  <a:srgbClr val="1F2328"/>
                </a:solidFill>
                <a:latin typeface="Arial"/>
                <a:cs typeface="Arial"/>
              </a:rPr>
              <a:t>ed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AI</a:t>
            </a:r>
            <a:r>
              <a:rPr dirty="0" sz="2300" spc="-15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ngineer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9624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4481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4413885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260" b="1">
                <a:solidFill>
                  <a:srgbClr val="214466"/>
                </a:solidFill>
                <a:latin typeface="Trebuchet MS"/>
                <a:cs typeface="Trebuchet MS"/>
              </a:rPr>
              <a:t>4.</a:t>
            </a:r>
            <a:r>
              <a:rPr dirty="0" sz="3700" spc="-550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650" spc="-310" b="1">
                <a:solidFill>
                  <a:srgbClr val="214466"/>
                </a:solidFill>
                <a:latin typeface="Bodoni MT"/>
                <a:cs typeface="Bodoni MT"/>
              </a:rPr>
              <a:t>Y</a:t>
            </a:r>
            <a:r>
              <a:rPr dirty="0" sz="3750" spc="-310" b="1">
                <a:solidFill>
                  <a:srgbClr val="214466"/>
                </a:solidFill>
                <a:latin typeface="Arial"/>
                <a:cs typeface="Arial"/>
              </a:rPr>
              <a:t>ê</a:t>
            </a:r>
            <a:r>
              <a:rPr dirty="0" sz="3650" spc="-310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05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750" spc="-105" b="1">
                <a:solidFill>
                  <a:srgbClr val="214466"/>
                </a:solidFill>
                <a:latin typeface="Arial"/>
                <a:cs typeface="Arial"/>
              </a:rPr>
              <a:t>ầ</a:t>
            </a:r>
            <a:r>
              <a:rPr dirty="0" sz="3650" spc="-105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650" spc="-25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54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750" spc="-254" b="1">
                <a:solidFill>
                  <a:srgbClr val="214466"/>
                </a:solidFill>
                <a:latin typeface="Arial"/>
                <a:cs typeface="Arial"/>
              </a:rPr>
              <a:t>h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ứ</a:t>
            </a:r>
            <a:r>
              <a:rPr dirty="0" sz="3750" spc="-254" b="1">
                <a:solidFill>
                  <a:srgbClr val="214466"/>
                </a:solidFill>
                <a:latin typeface="Arial"/>
                <a:cs typeface="Arial"/>
              </a:rPr>
              <a:t>c</a:t>
            </a:r>
            <a:r>
              <a:rPr dirty="0" sz="3750" spc="-28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50" b="1">
                <a:solidFill>
                  <a:srgbClr val="214466"/>
                </a:solidFill>
                <a:latin typeface="Trebuchet MS"/>
                <a:cs typeface="Trebuchet MS"/>
              </a:rPr>
              <a:t>N</a:t>
            </a:r>
            <a:r>
              <a:rPr dirty="0" sz="3750" spc="-150" b="1">
                <a:solidFill>
                  <a:srgbClr val="214466"/>
                </a:solidFill>
                <a:latin typeface="Arial"/>
                <a:cs typeface="Arial"/>
              </a:rPr>
              <a:t>ă</a:t>
            </a:r>
            <a:r>
              <a:rPr dirty="0" sz="3650" spc="-15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750" spc="-150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endParaRPr sz="37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3837" y="291068"/>
            <a:ext cx="4573116" cy="63294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474115"/>
            <a:ext cx="303974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75">
                <a:solidFill>
                  <a:srgbClr val="1F2328"/>
                </a:solidFill>
              </a:rPr>
              <a:t>U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00" spc="-17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30">
                <a:solidFill>
                  <a:srgbClr val="1F2328"/>
                </a:solidFill>
              </a:rPr>
              <a:t>S</a:t>
            </a:r>
            <a:r>
              <a:rPr dirty="0" sz="3000" spc="-130">
                <a:solidFill>
                  <a:srgbClr val="1F2328"/>
                </a:solidFill>
                <a:latin typeface="Arial"/>
                <a:cs typeface="Arial"/>
              </a:rPr>
              <a:t>tor</a:t>
            </a:r>
            <a:r>
              <a:rPr dirty="0" sz="3050" spc="-130">
                <a:solidFill>
                  <a:srgbClr val="1F2328"/>
                </a:solidFill>
                <a:latin typeface="Arial"/>
                <a:cs typeface="Arial"/>
              </a:rPr>
              <a:t>ie</a:t>
            </a:r>
            <a:r>
              <a:rPr dirty="0" sz="3000" spc="-130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10">
                <a:solidFill>
                  <a:srgbClr val="1F2328"/>
                </a:solidFill>
              </a:rPr>
              <a:t>C</a:t>
            </a:r>
            <a:r>
              <a:rPr dirty="0" sz="3050" spc="-110">
                <a:solidFill>
                  <a:srgbClr val="1F2328"/>
                </a:solidFill>
                <a:latin typeface="Arial"/>
                <a:cs typeface="Arial"/>
              </a:rPr>
              <a:t>hí</a:t>
            </a:r>
            <a:r>
              <a:rPr dirty="0" sz="3000" spc="-11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10">
                <a:solidFill>
                  <a:srgbClr val="1F2328"/>
                </a:solidFill>
                <a:latin typeface="Arial"/>
                <a:cs typeface="Arial"/>
              </a:rPr>
              <a:t>h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409825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156489"/>
            <a:ext cx="5287645" cy="31445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25"/>
              </a:spcBef>
            </a:pPr>
            <a:r>
              <a:rPr dirty="0" sz="2300" spc="-40" b="1">
                <a:solidFill>
                  <a:srgbClr val="1F2328"/>
                </a:solidFill>
                <a:latin typeface="Trebuchet MS"/>
                <a:cs typeface="Trebuchet MS"/>
              </a:rPr>
              <a:t>US0:</a:t>
            </a:r>
            <a:r>
              <a:rPr dirty="0" sz="2300" spc="-18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ánh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giá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kiến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thức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2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ề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xuất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lộ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trình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tối ưu</a:t>
            </a:r>
            <a:endParaRPr sz="2300">
              <a:latin typeface="Arial"/>
              <a:cs typeface="Arial"/>
            </a:endParaRPr>
          </a:p>
          <a:p>
            <a:pPr marL="12700" marR="274320">
              <a:lnSpc>
                <a:spcPct val="119600"/>
              </a:lnSpc>
              <a:spcBef>
                <a:spcPts val="450"/>
              </a:spcBef>
            </a:pP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US1: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30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ợi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ý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giải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thích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ngay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khi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mắc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lỗi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Gill Sans MT"/>
                <a:cs typeface="Gill Sans MT"/>
              </a:rPr>
              <a:t>(&lt; 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500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ms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2300">
              <a:latin typeface="Gill Sans MT"/>
              <a:cs typeface="Gill Sans MT"/>
            </a:endParaRPr>
          </a:p>
          <a:p>
            <a:pPr marL="12700" marR="247650">
              <a:lnSpc>
                <a:spcPct val="127699"/>
              </a:lnSpc>
              <a:spcBef>
                <a:spcPts val="300"/>
              </a:spcBef>
            </a:pPr>
            <a:r>
              <a:rPr dirty="0" sz="2300" spc="-65" b="1">
                <a:solidFill>
                  <a:srgbClr val="1F2328"/>
                </a:solidFill>
                <a:latin typeface="Trebuchet MS"/>
                <a:cs typeface="Trebuchet MS"/>
              </a:rPr>
              <a:t>US2: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ashboard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tiến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trình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tập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cá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nhân </a:t>
            </a:r>
            <a:r>
              <a:rPr dirty="0" sz="2300" spc="-50" b="1">
                <a:solidFill>
                  <a:srgbClr val="1F2328"/>
                </a:solidFill>
                <a:latin typeface="Trebuchet MS"/>
                <a:cs typeface="Trebuchet MS"/>
              </a:rPr>
              <a:t>US3: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paced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repetition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kỹ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năng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chưa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thành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thạo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305175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210050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686300"/>
            <a:ext cx="85725" cy="8572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93240"/>
            <a:ext cx="369633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70">
                <a:solidFill>
                  <a:srgbClr val="1F2328"/>
                </a:solidFill>
              </a:rPr>
              <a:t>U</a:t>
            </a:r>
            <a:r>
              <a:rPr dirty="0" sz="3000" spc="-170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50" spc="-17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45">
                <a:solidFill>
                  <a:srgbClr val="1F2328"/>
                </a:solidFill>
              </a:rPr>
              <a:t>C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80">
                <a:solidFill>
                  <a:srgbClr val="1F2328"/>
                </a:solidFill>
              </a:rPr>
              <a:t>Q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3050" spc="-18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75">
                <a:solidFill>
                  <a:srgbClr val="1F2328"/>
                </a:solidFill>
              </a:rPr>
              <a:t>T</a:t>
            </a:r>
            <a:r>
              <a:rPr dirty="0" sz="3000" spc="-275">
                <a:solidFill>
                  <a:srgbClr val="1F2328"/>
                </a:solidFill>
                <a:latin typeface="Arial"/>
                <a:cs typeface="Arial"/>
              </a:rPr>
              <a:t>rọn</a:t>
            </a:r>
            <a:r>
              <a:rPr dirty="0" sz="3050" spc="-275">
                <a:solidFill>
                  <a:srgbClr val="1F2328"/>
                </a:solidFill>
                <a:latin typeface="Arial"/>
                <a:cs typeface="Arial"/>
              </a:rPr>
              <a:t>g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02895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13640"/>
            <a:ext cx="6550659" cy="1968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8600"/>
              </a:lnSpc>
              <a:spcBef>
                <a:spcPts val="90"/>
              </a:spcBef>
            </a:pPr>
            <a:r>
              <a:rPr dirty="0" sz="2300" spc="65" b="1">
                <a:solidFill>
                  <a:srgbClr val="1F2328"/>
                </a:solidFill>
                <a:latin typeface="Trebuchet MS"/>
                <a:cs typeface="Trebuchet MS"/>
              </a:rPr>
              <a:t>UC-</a:t>
            </a:r>
            <a:r>
              <a:rPr dirty="0" sz="2300" spc="-95" b="1">
                <a:solidFill>
                  <a:srgbClr val="1F2328"/>
                </a:solidFill>
                <a:latin typeface="Trebuchet MS"/>
                <a:cs typeface="Trebuchet MS"/>
              </a:rPr>
              <a:t>04: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ài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kiểm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tra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đầu 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vào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X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ây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dựng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earner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odel </a:t>
            </a:r>
            <a:r>
              <a:rPr dirty="0" sz="2300" spc="65" b="1">
                <a:solidFill>
                  <a:srgbClr val="1F2328"/>
                </a:solidFill>
                <a:latin typeface="Trebuchet MS"/>
                <a:cs typeface="Trebuchet MS"/>
              </a:rPr>
              <a:t>UC-</a:t>
            </a:r>
            <a:r>
              <a:rPr dirty="0" sz="2300" spc="-95" b="1">
                <a:solidFill>
                  <a:srgbClr val="1F2328"/>
                </a:solidFill>
                <a:latin typeface="Trebuchet MS"/>
                <a:cs typeface="Trebuchet MS"/>
              </a:rPr>
              <a:t>08: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Trebuchet MS"/>
                <a:cs typeface="Trebuchet MS"/>
              </a:rPr>
              <a:t>H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ọc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tập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thích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ứng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với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daptive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ngine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300" spc="50" b="1">
                <a:solidFill>
                  <a:srgbClr val="1F2328"/>
                </a:solidFill>
                <a:latin typeface="Trebuchet MS"/>
                <a:cs typeface="Trebuchet MS"/>
              </a:rPr>
              <a:t>UC-</a:t>
            </a:r>
            <a:r>
              <a:rPr dirty="0" sz="2300" spc="-210" b="1">
                <a:solidFill>
                  <a:srgbClr val="1F2328"/>
                </a:solidFill>
                <a:latin typeface="Trebuchet MS"/>
                <a:cs typeface="Trebuchet MS"/>
              </a:rPr>
              <a:t>10:</a:t>
            </a: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hấm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điểm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phản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hồi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5">
                <a:solidFill>
                  <a:srgbClr val="1F2328"/>
                </a:solidFill>
                <a:latin typeface="Arial"/>
                <a:cs typeface="Arial"/>
              </a:rPr>
              <a:t>tức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thì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300" spc="50" b="1">
                <a:solidFill>
                  <a:srgbClr val="1F2328"/>
                </a:solidFill>
                <a:latin typeface="Trebuchet MS"/>
                <a:cs typeface="Trebuchet MS"/>
              </a:rPr>
              <a:t>UC-</a:t>
            </a:r>
            <a:r>
              <a:rPr dirty="0" sz="2300" spc="-215" b="1">
                <a:solidFill>
                  <a:srgbClr val="1F2328"/>
                </a:solidFill>
                <a:latin typeface="Trebuchet MS"/>
                <a:cs typeface="Trebuchet MS"/>
              </a:rPr>
              <a:t>18:</a:t>
            </a:r>
            <a:r>
              <a:rPr dirty="0" sz="2300" spc="-18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ive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swap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mô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hình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AI</a:t>
            </a:r>
            <a:r>
              <a:rPr dirty="0" sz="2300" spc="-17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không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downtime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514725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4862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5125085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295" b="1">
                <a:solidFill>
                  <a:srgbClr val="214466"/>
                </a:solidFill>
                <a:latin typeface="Trebuchet MS"/>
                <a:cs typeface="Trebuchet MS"/>
              </a:rPr>
              <a:t>5.</a:t>
            </a:r>
            <a:r>
              <a:rPr dirty="0" sz="3700" spc="-550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650" spc="-310" b="1">
                <a:solidFill>
                  <a:srgbClr val="214466"/>
                </a:solidFill>
                <a:latin typeface="Bodoni MT"/>
                <a:cs typeface="Bodoni MT"/>
              </a:rPr>
              <a:t>Y</a:t>
            </a:r>
            <a:r>
              <a:rPr dirty="0" sz="3750" spc="-310" b="1">
                <a:solidFill>
                  <a:srgbClr val="214466"/>
                </a:solidFill>
                <a:latin typeface="Arial"/>
                <a:cs typeface="Arial"/>
              </a:rPr>
              <a:t>ê</a:t>
            </a:r>
            <a:r>
              <a:rPr dirty="0" sz="3650" spc="-310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650" spc="-25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05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750" spc="-105" b="1">
                <a:solidFill>
                  <a:srgbClr val="214466"/>
                </a:solidFill>
                <a:latin typeface="Arial"/>
                <a:cs typeface="Arial"/>
              </a:rPr>
              <a:t>ầ</a:t>
            </a:r>
            <a:r>
              <a:rPr dirty="0" sz="3650" spc="-105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650" spc="-25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10" b="1">
                <a:solidFill>
                  <a:srgbClr val="214466"/>
                </a:solidFill>
                <a:latin typeface="Trebuchet MS"/>
                <a:cs typeface="Trebuchet MS"/>
              </a:rPr>
              <a:t>P</a:t>
            </a:r>
            <a:r>
              <a:rPr dirty="0" sz="3750" spc="-210" b="1">
                <a:solidFill>
                  <a:srgbClr val="214466"/>
                </a:solidFill>
                <a:latin typeface="Arial"/>
                <a:cs typeface="Arial"/>
              </a:rPr>
              <a:t>hi</a:t>
            </a:r>
            <a:r>
              <a:rPr dirty="0" sz="3750" spc="-28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54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750" spc="-254" b="1">
                <a:solidFill>
                  <a:srgbClr val="214466"/>
                </a:solidFill>
                <a:latin typeface="Arial"/>
                <a:cs typeface="Arial"/>
              </a:rPr>
              <a:t>h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ứ</a:t>
            </a:r>
            <a:r>
              <a:rPr dirty="0" sz="3750" spc="-254" b="1">
                <a:solidFill>
                  <a:srgbClr val="214466"/>
                </a:solidFill>
                <a:latin typeface="Arial"/>
                <a:cs typeface="Arial"/>
              </a:rPr>
              <a:t>c</a:t>
            </a:r>
            <a:r>
              <a:rPr dirty="0" sz="3750" spc="-28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40" b="1">
                <a:solidFill>
                  <a:srgbClr val="214466"/>
                </a:solidFill>
                <a:latin typeface="Trebuchet MS"/>
                <a:cs typeface="Trebuchet MS"/>
              </a:rPr>
              <a:t>N</a:t>
            </a:r>
            <a:r>
              <a:rPr dirty="0" sz="3750" spc="-140" b="1">
                <a:solidFill>
                  <a:srgbClr val="214466"/>
                </a:solidFill>
                <a:latin typeface="Arial"/>
                <a:cs typeface="Arial"/>
              </a:rPr>
              <a:t>ă</a:t>
            </a:r>
            <a:r>
              <a:rPr dirty="0" sz="3650" spc="-14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750" spc="-140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endParaRPr sz="37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93240"/>
            <a:ext cx="642429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05">
                <a:solidFill>
                  <a:srgbClr val="1F2328"/>
                </a:solidFill>
              </a:rPr>
              <a:t>Ð</a:t>
            </a:r>
            <a:r>
              <a:rPr dirty="0" sz="3050" spc="-105">
                <a:solidFill>
                  <a:srgbClr val="1F2328"/>
                </a:solidFill>
                <a:latin typeface="Arial"/>
                <a:cs typeface="Arial"/>
              </a:rPr>
              <a:t>ặc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25">
                <a:solidFill>
                  <a:srgbClr val="1F2328"/>
                </a:solidFill>
              </a:rPr>
              <a:t>T</a:t>
            </a:r>
            <a:r>
              <a:rPr dirty="0" sz="3050" spc="-225">
                <a:solidFill>
                  <a:srgbClr val="1F2328"/>
                </a:solidFill>
                <a:latin typeface="Arial"/>
                <a:cs typeface="Arial"/>
              </a:rPr>
              <a:t>í</a:t>
            </a:r>
            <a:r>
              <a:rPr dirty="0" sz="3000" spc="-22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225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5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65">
                <a:solidFill>
                  <a:srgbClr val="1F2328"/>
                </a:solidFill>
              </a:rPr>
              <a:t>K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iế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50">
                <a:solidFill>
                  <a:srgbClr val="1F2328"/>
                </a:solidFill>
              </a:rPr>
              <a:t>T</a:t>
            </a:r>
            <a:r>
              <a:rPr dirty="0" sz="3000" spc="-250">
                <a:solidFill>
                  <a:srgbClr val="1F2328"/>
                </a:solidFill>
                <a:latin typeface="Arial"/>
                <a:cs typeface="Arial"/>
              </a:rPr>
              <a:t>rú</a:t>
            </a:r>
            <a:r>
              <a:rPr dirty="0" sz="3050" spc="-250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5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55">
                <a:solidFill>
                  <a:srgbClr val="1F2328"/>
                </a:solidFill>
              </a:rPr>
              <a:t>C</a:t>
            </a:r>
            <a:r>
              <a:rPr dirty="0" sz="3050" spc="-155">
                <a:solidFill>
                  <a:srgbClr val="1F2328"/>
                </a:solidFill>
                <a:latin typeface="Arial"/>
                <a:cs typeface="Arial"/>
              </a:rPr>
              <a:t>hí</a:t>
            </a:r>
            <a:r>
              <a:rPr dirty="0" sz="3000" spc="-15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55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65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165">
                <a:solidFill>
                  <a:srgbClr val="1F2328"/>
                </a:solidFill>
              </a:rPr>
              <a:t>P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m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ry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0">
                <a:solidFill>
                  <a:srgbClr val="1F2328"/>
                </a:solidFill>
              </a:rPr>
              <a:t>AC</a:t>
            </a:r>
            <a:r>
              <a:rPr dirty="0" sz="3000" spc="-20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00" spc="-2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02895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14239"/>
            <a:ext cx="8282940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00"/>
              </a:spcBef>
            </a:pPr>
            <a:r>
              <a:rPr dirty="0" sz="2300" b="1">
                <a:solidFill>
                  <a:srgbClr val="1F2328"/>
                </a:solidFill>
                <a:latin typeface="Trebuchet MS"/>
                <a:cs typeface="Trebuchet MS"/>
              </a:rPr>
              <a:t>AC-</a:t>
            </a:r>
            <a:r>
              <a:rPr dirty="0" sz="2300" spc="-340" b="1">
                <a:solidFill>
                  <a:srgbClr val="1F2328"/>
                </a:solidFill>
                <a:latin typeface="Trebuchet MS"/>
                <a:cs typeface="Trebuchet MS"/>
              </a:rPr>
              <a:t>1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d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ul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ty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4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ow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coupling</a:t>
            </a:r>
            <a:r>
              <a:rPr dirty="0" sz="2300" spc="-8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1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high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cohesion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swap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module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&lt;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114">
                <a:solidFill>
                  <a:srgbClr val="1F2328"/>
                </a:solidFill>
                <a:latin typeface="Gill Sans MT"/>
                <a:cs typeface="Gill Sans MT"/>
              </a:rPr>
              <a:t>5</a:t>
            </a:r>
            <a:r>
              <a:rPr dirty="0" sz="2300" spc="-8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phút </a:t>
            </a:r>
            <a:r>
              <a:rPr dirty="0" sz="2300" spc="65" b="1">
                <a:solidFill>
                  <a:srgbClr val="1F2328"/>
                </a:solidFill>
                <a:latin typeface="Trebuchet MS"/>
                <a:cs typeface="Trebuchet MS"/>
              </a:rPr>
              <a:t>AC-</a:t>
            </a:r>
            <a:r>
              <a:rPr dirty="0" sz="2300" spc="-75" b="1">
                <a:solidFill>
                  <a:srgbClr val="1F2328"/>
                </a:solidFill>
                <a:latin typeface="Trebuchet MS"/>
                <a:cs typeface="Trebuchet MS"/>
              </a:rPr>
              <a:t>2</a:t>
            </a:r>
            <a:r>
              <a:rPr dirty="0" sz="2300" spc="-18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20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ca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abi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ty</a:t>
            </a:r>
            <a:r>
              <a:rPr dirty="0" sz="2300" spc="-12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&gt;=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130">
                <a:solidFill>
                  <a:srgbClr val="1F2328"/>
                </a:solidFill>
                <a:latin typeface="Gill Sans MT"/>
                <a:cs typeface="Gill Sans MT"/>
              </a:rPr>
              <a:t>5,000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65">
                <a:solidFill>
                  <a:srgbClr val="1F2328"/>
                </a:solidFill>
                <a:latin typeface="Trebuchet MS"/>
                <a:cs typeface="Trebuchet MS"/>
              </a:rPr>
              <a:t>CCU</a:t>
            </a:r>
            <a:r>
              <a:rPr dirty="0" sz="2300" spc="6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auto</a:t>
            </a:r>
            <a:r>
              <a:rPr dirty="0" sz="2300" spc="-4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scale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&lt;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60">
                <a:solidFill>
                  <a:srgbClr val="1F2328"/>
                </a:solidFill>
                <a:latin typeface="Gill Sans MT"/>
                <a:cs typeface="Gill Sans MT"/>
              </a:rPr>
              <a:t>60</a:t>
            </a:r>
            <a:r>
              <a:rPr dirty="0" sz="2300" spc="60">
                <a:solidFill>
                  <a:srgbClr val="1F2328"/>
                </a:solidFill>
                <a:latin typeface="Arial"/>
                <a:cs typeface="Arial"/>
              </a:rPr>
              <a:t>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300" spc="65" b="1">
                <a:solidFill>
                  <a:srgbClr val="1F2328"/>
                </a:solidFill>
                <a:latin typeface="Trebuchet MS"/>
                <a:cs typeface="Trebuchet MS"/>
              </a:rPr>
              <a:t>AC-</a:t>
            </a:r>
            <a:r>
              <a:rPr dirty="0" sz="2300" spc="-20" b="1">
                <a:solidFill>
                  <a:srgbClr val="1F2328"/>
                </a:solidFill>
                <a:latin typeface="Trebuchet MS"/>
                <a:cs typeface="Trebuchet MS"/>
              </a:rPr>
              <a:t>3</a:t>
            </a:r>
            <a:r>
              <a:rPr dirty="0" sz="2300" spc="-160" b="1">
                <a:solidFill>
                  <a:srgbClr val="1F2328"/>
                </a:solidFill>
                <a:latin typeface="Trebuchet MS"/>
                <a:cs typeface="Trebuchet MS"/>
              </a:rPr>
              <a:t> P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f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orm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ce</a:t>
            </a:r>
            <a:r>
              <a:rPr dirty="0" sz="2300" spc="-16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4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85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2300" spc="85">
                <a:solidFill>
                  <a:srgbClr val="1F2328"/>
                </a:solidFill>
                <a:latin typeface="Gill Sans MT"/>
                <a:cs typeface="Gill Sans MT"/>
              </a:rPr>
              <a:t>95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&lt;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>
                <a:solidFill>
                  <a:srgbClr val="1F2328"/>
                </a:solidFill>
                <a:latin typeface="Gill Sans MT"/>
                <a:cs typeface="Gill Sans MT"/>
              </a:rPr>
              <a:t>500</a:t>
            </a:r>
            <a:r>
              <a:rPr dirty="0" sz="2300">
                <a:solidFill>
                  <a:srgbClr val="1F2328"/>
                </a:solidFill>
                <a:latin typeface="Arial"/>
                <a:cs typeface="Arial"/>
              </a:rPr>
              <a:t>ms</a:t>
            </a:r>
            <a:r>
              <a:rPr dirty="0" sz="230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1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cache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hit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&gt;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60">
                <a:solidFill>
                  <a:srgbClr val="1F2328"/>
                </a:solidFill>
                <a:latin typeface="Gill Sans MT"/>
                <a:cs typeface="Gill Sans MT"/>
              </a:rPr>
              <a:t>90</a:t>
            </a:r>
            <a:r>
              <a:rPr dirty="0" sz="2300" spc="60">
                <a:solidFill>
                  <a:srgbClr val="1F2328"/>
                </a:solidFill>
                <a:latin typeface="Georgia"/>
                <a:cs typeface="Georgia"/>
              </a:rPr>
              <a:t>%</a:t>
            </a:r>
            <a:endParaRPr sz="23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300" spc="65" b="1">
                <a:solidFill>
                  <a:srgbClr val="1F2328"/>
                </a:solidFill>
                <a:latin typeface="Trebuchet MS"/>
                <a:cs typeface="Trebuchet MS"/>
              </a:rPr>
              <a:t>AC-</a:t>
            </a:r>
            <a:r>
              <a:rPr dirty="0" sz="2300" b="1">
                <a:solidFill>
                  <a:srgbClr val="1F2328"/>
                </a:solidFill>
                <a:latin typeface="Trebuchet MS"/>
                <a:cs typeface="Trebuchet MS"/>
              </a:rPr>
              <a:t>4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60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st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abi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ty</a:t>
            </a:r>
            <a:r>
              <a:rPr dirty="0" sz="2300" spc="-160" b="1">
                <a:solidFill>
                  <a:srgbClr val="1F2328"/>
                </a:solidFill>
                <a:latin typeface="Trebuchet MS"/>
                <a:cs typeface="Trebuchet MS"/>
              </a:rPr>
              <a:t>: </a:t>
            </a:r>
            <a:r>
              <a:rPr dirty="0" sz="2300" spc="-10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overage 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&gt;=</a:t>
            </a:r>
            <a:r>
              <a:rPr dirty="0" sz="2300" spc="-10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50">
                <a:solidFill>
                  <a:srgbClr val="1F2328"/>
                </a:solidFill>
                <a:latin typeface="Gill Sans MT"/>
                <a:cs typeface="Gill Sans MT"/>
              </a:rPr>
              <a:t>80</a:t>
            </a:r>
            <a:r>
              <a:rPr dirty="0" sz="2300" spc="50">
                <a:solidFill>
                  <a:srgbClr val="1F2328"/>
                </a:solidFill>
                <a:latin typeface="Georgia"/>
                <a:cs typeface="Georgia"/>
              </a:rPr>
              <a:t>%</a:t>
            </a:r>
            <a:r>
              <a:rPr dirty="0" sz="2300" spc="5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mutation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score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&gt;</a:t>
            </a:r>
            <a:r>
              <a:rPr dirty="0" sz="2300" spc="-10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Gill Sans MT"/>
                <a:cs typeface="Gill Sans MT"/>
              </a:rPr>
              <a:t>70</a:t>
            </a:r>
            <a:r>
              <a:rPr dirty="0" sz="2300" spc="-25">
                <a:solidFill>
                  <a:srgbClr val="1F2328"/>
                </a:solidFill>
                <a:latin typeface="Georgia"/>
                <a:cs typeface="Georgia"/>
              </a:rPr>
              <a:t>%</a:t>
            </a:r>
            <a:endParaRPr sz="2300">
              <a:latin typeface="Georgia"/>
              <a:cs typeface="Georgi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514725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4862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1685909"/>
            <a:ext cx="4876799" cy="3486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3102890"/>
            <a:ext cx="466915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65">
                <a:solidFill>
                  <a:srgbClr val="1F2328"/>
                </a:solidFill>
              </a:rPr>
              <a:t>A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chi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ec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tur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30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35">
                <a:solidFill>
                  <a:srgbClr val="1F2328"/>
                </a:solidFill>
              </a:rPr>
              <a:t>C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ha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ac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st</a:t>
            </a:r>
            <a:r>
              <a:rPr dirty="0" sz="3050" spc="-135">
                <a:solidFill>
                  <a:srgbClr val="1F2328"/>
                </a:solidFill>
                <a:latin typeface="Arial"/>
                <a:cs typeface="Arial"/>
              </a:rPr>
              <a:t>ic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s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404495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260" b="1">
                <a:solidFill>
                  <a:srgbClr val="214466"/>
                </a:solidFill>
                <a:latin typeface="Trebuchet MS"/>
                <a:cs typeface="Trebuchet MS"/>
              </a:rPr>
              <a:t>6.</a:t>
            </a:r>
            <a:r>
              <a:rPr dirty="0" sz="3700" spc="-54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650" spc="-175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750" spc="-175" b="1">
                <a:solidFill>
                  <a:srgbClr val="214466"/>
                </a:solidFill>
                <a:latin typeface="Arial"/>
                <a:cs typeface="Arial"/>
              </a:rPr>
              <a:t>hiế</a:t>
            </a:r>
            <a:r>
              <a:rPr dirty="0" sz="3650" spc="-175" b="1">
                <a:solidFill>
                  <a:srgbClr val="214466"/>
                </a:solidFill>
                <a:latin typeface="Arial"/>
                <a:cs typeface="Arial"/>
              </a:rPr>
              <a:t>t</a:t>
            </a:r>
            <a:r>
              <a:rPr dirty="0" sz="3650" spc="-24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90" b="1">
                <a:solidFill>
                  <a:srgbClr val="214466"/>
                </a:solidFill>
                <a:latin typeface="Trebuchet MS"/>
                <a:cs typeface="Trebuchet MS"/>
              </a:rPr>
              <a:t>K</a:t>
            </a:r>
            <a:r>
              <a:rPr dirty="0" sz="3750" spc="-190" b="1">
                <a:solidFill>
                  <a:srgbClr val="214466"/>
                </a:solidFill>
                <a:latin typeface="Arial"/>
                <a:cs typeface="Arial"/>
              </a:rPr>
              <a:t>ế</a:t>
            </a:r>
            <a:r>
              <a:rPr dirty="0" sz="3750" spc="-26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95" b="1">
                <a:solidFill>
                  <a:srgbClr val="214466"/>
                </a:solidFill>
                <a:latin typeface="Trebuchet MS"/>
                <a:cs typeface="Trebuchet MS"/>
              </a:rPr>
              <a:t>K</a:t>
            </a:r>
            <a:r>
              <a:rPr dirty="0" sz="3750" spc="-195" b="1">
                <a:solidFill>
                  <a:srgbClr val="214466"/>
                </a:solidFill>
                <a:latin typeface="Arial"/>
                <a:cs typeface="Arial"/>
              </a:rPr>
              <a:t>iế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295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650" spc="-295" b="1">
                <a:solidFill>
                  <a:srgbClr val="214466"/>
                </a:solidFill>
                <a:latin typeface="Arial"/>
                <a:cs typeface="Arial"/>
              </a:rPr>
              <a:t>rú</a:t>
            </a:r>
            <a:r>
              <a:rPr dirty="0" sz="3750" spc="-295" b="1">
                <a:solidFill>
                  <a:srgbClr val="214466"/>
                </a:solidFill>
                <a:latin typeface="Arial"/>
                <a:cs typeface="Arial"/>
              </a:rPr>
              <a:t>c</a:t>
            </a:r>
            <a:endParaRPr sz="37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3954" y="1089777"/>
            <a:ext cx="4807788" cy="46879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712240"/>
            <a:ext cx="393446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25">
                <a:solidFill>
                  <a:srgbClr val="1F2328"/>
                </a:solidFill>
              </a:rPr>
              <a:t>S</a:t>
            </a:r>
            <a:r>
              <a:rPr dirty="0" sz="3000" spc="-2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F2328"/>
                </a:solidFill>
              </a:rPr>
              <a:t>S</a:t>
            </a:r>
            <a:r>
              <a:rPr dirty="0" sz="3050" spc="-120">
                <a:solidFill>
                  <a:srgbClr val="1F2328"/>
                </a:solidFill>
                <a:latin typeface="Arial"/>
                <a:cs typeface="Arial"/>
              </a:rPr>
              <a:t>á</a:t>
            </a:r>
            <a:r>
              <a:rPr dirty="0" sz="3000" spc="-12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20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80">
                <a:solidFill>
                  <a:srgbClr val="1F2328"/>
                </a:solidFill>
              </a:rPr>
              <a:t>C</a:t>
            </a:r>
            <a:r>
              <a:rPr dirty="0" sz="3050" spc="-80">
                <a:solidFill>
                  <a:srgbClr val="1F2328"/>
                </a:solidFill>
                <a:latin typeface="Arial"/>
                <a:cs typeface="Arial"/>
              </a:rPr>
              <a:t>ác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10">
                <a:solidFill>
                  <a:srgbClr val="1F2328"/>
                </a:solidFill>
              </a:rPr>
              <a:t>P</a:t>
            </a:r>
            <a:r>
              <a:rPr dirty="0" sz="3050" spc="-310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00" spc="-310">
                <a:solidFill>
                  <a:srgbClr val="1F2328"/>
                </a:solidFill>
                <a:latin typeface="Arial"/>
                <a:cs typeface="Arial"/>
              </a:rPr>
              <a:t>ươn</a:t>
            </a:r>
            <a:r>
              <a:rPr dirty="0" sz="3050" spc="-310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5">
                <a:solidFill>
                  <a:srgbClr val="1F2328"/>
                </a:solidFill>
              </a:rPr>
              <a:t>Á</a:t>
            </a:r>
            <a:r>
              <a:rPr dirty="0" sz="3000" spc="-25">
                <a:solidFill>
                  <a:srgbClr val="1F2328"/>
                </a:solidFill>
                <a:latin typeface="Arial"/>
                <a:cs typeface="Arial"/>
              </a:rPr>
              <a:t>n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6479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391545"/>
            <a:ext cx="5245100" cy="26619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271145">
              <a:lnSpc>
                <a:spcPct val="118800"/>
              </a:lnSpc>
              <a:spcBef>
                <a:spcPts val="110"/>
              </a:spcBef>
            </a:pP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onol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ơn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giản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nhưng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khó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scale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tight coupling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565"/>
              </a:spcBef>
            </a:pPr>
            <a:r>
              <a:rPr dirty="0" sz="2300" spc="-145" b="1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ic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ros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00" spc="-145" b="1">
                <a:solidFill>
                  <a:srgbClr val="1F2328"/>
                </a:solidFill>
                <a:latin typeface="Trebuchet MS"/>
                <a:cs typeface="Trebuchet MS"/>
              </a:rPr>
              <a:t>: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odular</a:t>
            </a:r>
            <a:r>
              <a:rPr dirty="0" sz="2300" spc="-7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scale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độc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lập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phức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tạp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hơn</a:t>
            </a:r>
            <a:endParaRPr sz="2300">
              <a:latin typeface="Arial"/>
              <a:cs typeface="Arial"/>
            </a:endParaRPr>
          </a:p>
          <a:p>
            <a:pPr marL="12700" marR="711835">
              <a:lnSpc>
                <a:spcPct val="116100"/>
              </a:lnSpc>
              <a:spcBef>
                <a:spcPts val="560"/>
              </a:spcBef>
            </a:pP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rl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ss</a:t>
            </a: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>
                <a:solidFill>
                  <a:srgbClr val="1F2328"/>
                </a:solidFill>
                <a:latin typeface="Arial"/>
                <a:cs typeface="Arial"/>
              </a:rPr>
              <a:t>hi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phí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biến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đổi</a:t>
            </a:r>
            <a:r>
              <a:rPr dirty="0" sz="2300" spc="-6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9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cold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start issues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552825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4481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162019"/>
            <a:ext cx="6095999" cy="4543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026440"/>
            <a:ext cx="3751579" cy="1388745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340"/>
              </a:spcBef>
            </a:pPr>
            <a:r>
              <a:rPr dirty="0" sz="3000" spc="-145">
                <a:solidFill>
                  <a:srgbClr val="1F2328"/>
                </a:solidFill>
              </a:rPr>
              <a:t>Q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uy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50">
                <a:solidFill>
                  <a:srgbClr val="1F2328"/>
                </a:solidFill>
              </a:rPr>
              <a:t>Ð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ị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00" spc="-150">
                <a:solidFill>
                  <a:srgbClr val="1F2328"/>
                </a:solidFill>
                <a:latin typeface="Gill Sans MT"/>
                <a:cs typeface="Gill Sans MT"/>
              </a:rPr>
              <a:t>:</a:t>
            </a:r>
            <a:r>
              <a:rPr dirty="0" sz="3000" spc="-17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0">
                <a:solidFill>
                  <a:srgbClr val="1F2328"/>
                </a:solidFill>
              </a:rPr>
              <a:t>H</a:t>
            </a:r>
            <a:r>
              <a:rPr dirty="0" sz="3000" spc="-10">
                <a:solidFill>
                  <a:srgbClr val="1F2328"/>
                </a:solidFill>
                <a:latin typeface="Arial"/>
                <a:cs typeface="Arial"/>
              </a:rPr>
              <a:t>y</a:t>
            </a:r>
            <a:r>
              <a:rPr dirty="0" sz="3050" spc="-10">
                <a:solidFill>
                  <a:srgbClr val="1F2328"/>
                </a:solidFill>
                <a:latin typeface="Arial"/>
                <a:cs typeface="Arial"/>
              </a:rPr>
              <a:t>b</a:t>
            </a:r>
            <a:r>
              <a:rPr dirty="0" sz="3000" spc="-10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0">
                <a:solidFill>
                  <a:srgbClr val="1F2328"/>
                </a:solidFill>
                <a:latin typeface="Arial"/>
                <a:cs typeface="Arial"/>
              </a:rPr>
              <a:t>id </a:t>
            </a:r>
            <a:r>
              <a:rPr dirty="0" sz="3000" spc="-175">
                <a:solidFill>
                  <a:srgbClr val="1F2328"/>
                </a:solidFill>
              </a:rPr>
              <a:t>M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ic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ros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>
                <a:solidFill>
                  <a:srgbClr val="1F2328"/>
                </a:solidFill>
                <a:latin typeface="Gill Sans MT"/>
                <a:cs typeface="Gill Sans MT"/>
              </a:rPr>
              <a:t>+</a:t>
            </a:r>
            <a:r>
              <a:rPr dirty="0" sz="3000" spc="-15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65">
                <a:solidFill>
                  <a:srgbClr val="1F2328"/>
                </a:solidFill>
              </a:rPr>
              <a:t>E</a:t>
            </a:r>
            <a:r>
              <a:rPr dirty="0" sz="3000" spc="-65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3050" spc="-6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65">
                <a:solidFill>
                  <a:srgbClr val="1F2328"/>
                </a:solidFill>
                <a:latin typeface="Arial"/>
                <a:cs typeface="Arial"/>
              </a:rPr>
              <a:t>nt</a:t>
            </a:r>
            <a:r>
              <a:rPr dirty="0" sz="3000" spc="-65">
                <a:solidFill>
                  <a:srgbClr val="1F2328"/>
                </a:solidFill>
                <a:latin typeface="Gill Sans MT"/>
                <a:cs typeface="Gill Sans MT"/>
              </a:rPr>
              <a:t>- </a:t>
            </a:r>
            <a:r>
              <a:rPr dirty="0" sz="3000" spc="-10">
                <a:solidFill>
                  <a:srgbClr val="1F2328"/>
                </a:solidFill>
              </a:rPr>
              <a:t>D</a:t>
            </a:r>
            <a:r>
              <a:rPr dirty="0" sz="3000" spc="-10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0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3050" spc="-1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0">
                <a:solidFill>
                  <a:srgbClr val="1F2328"/>
                </a:solidFill>
                <a:latin typeface="Arial"/>
                <a:cs typeface="Arial"/>
              </a:rPr>
              <a:t>n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85750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604271"/>
            <a:ext cx="3871595" cy="31445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25"/>
              </a:spcBef>
            </a:pP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>
                <a:solidFill>
                  <a:srgbClr val="1F2328"/>
                </a:solidFill>
                <a:latin typeface="Arial"/>
                <a:cs typeface="Arial"/>
              </a:rPr>
              <a:t>ỗi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service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có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ounded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ontext riêng</a:t>
            </a:r>
            <a:endParaRPr sz="2300">
              <a:latin typeface="Arial"/>
              <a:cs typeface="Arial"/>
            </a:endParaRPr>
          </a:p>
          <a:p>
            <a:pPr algn="just" marL="12700" marR="662940">
              <a:lnSpc>
                <a:spcPct val="129099"/>
              </a:lnSpc>
              <a:spcBef>
                <a:spcPts val="190"/>
              </a:spcBef>
            </a:pP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cale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độc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lập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theo</a:t>
            </a:r>
            <a:r>
              <a:rPr dirty="0" sz="2300" spc="-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70">
                <a:solidFill>
                  <a:srgbClr val="1F2328"/>
                </a:solidFill>
                <a:latin typeface="Arial"/>
                <a:cs typeface="Arial"/>
              </a:rPr>
              <a:t>nhu</a:t>
            </a:r>
            <a:r>
              <a:rPr dirty="0" sz="2300" spc="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0">
                <a:solidFill>
                  <a:srgbClr val="1F2328"/>
                </a:solidFill>
                <a:latin typeface="Arial"/>
                <a:cs typeface="Arial"/>
              </a:rPr>
              <a:t>cầu </a:t>
            </a: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sync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communication</a:t>
            </a:r>
            <a:r>
              <a:rPr dirty="0" sz="2300" spc="-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qua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R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abbit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MQ</a:t>
            </a:r>
            <a:endParaRPr sz="2300">
              <a:latin typeface="Trebuchet MS"/>
              <a:cs typeface="Trebuchet MS"/>
            </a:endParaRPr>
          </a:p>
          <a:p>
            <a:pPr marL="12700" marR="651510">
              <a:lnSpc>
                <a:spcPct val="119600"/>
              </a:lnSpc>
              <a:spcBef>
                <a:spcPts val="445"/>
              </a:spcBef>
            </a:pP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lean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rchitecture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mỗi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service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5133975"/>
            <a:ext cx="85725" cy="8572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7954009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35" b="1">
                <a:solidFill>
                  <a:srgbClr val="214466"/>
                </a:solidFill>
                <a:latin typeface="Trebuchet MS"/>
                <a:cs typeface="Trebuchet MS"/>
              </a:rPr>
              <a:t>7.</a:t>
            </a:r>
            <a:r>
              <a:rPr dirty="0" sz="3700" spc="-51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195" b="1">
                <a:solidFill>
                  <a:srgbClr val="214466"/>
                </a:solidFill>
                <a:latin typeface="Trebuchet MS"/>
                <a:cs typeface="Trebuchet MS"/>
              </a:rPr>
              <a:t>A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r</a:t>
            </a:r>
            <a:r>
              <a:rPr dirty="0" sz="3750" spc="-195" b="1">
                <a:solidFill>
                  <a:srgbClr val="214466"/>
                </a:solidFill>
                <a:latin typeface="Arial"/>
                <a:cs typeface="Arial"/>
              </a:rPr>
              <a:t>chi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t</a:t>
            </a:r>
            <a:r>
              <a:rPr dirty="0" sz="3750" spc="-195" b="1">
                <a:solidFill>
                  <a:srgbClr val="214466"/>
                </a:solidFill>
                <a:latin typeface="Arial"/>
                <a:cs typeface="Arial"/>
              </a:rPr>
              <a:t>ec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tur</a:t>
            </a:r>
            <a:r>
              <a:rPr dirty="0" sz="3750" spc="-195" b="1">
                <a:solidFill>
                  <a:srgbClr val="214466"/>
                </a:solidFill>
                <a:latin typeface="Arial"/>
                <a:cs typeface="Arial"/>
              </a:rPr>
              <a:t>e</a:t>
            </a:r>
            <a:r>
              <a:rPr dirty="0" sz="3750" spc="-23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15" b="1">
                <a:solidFill>
                  <a:srgbClr val="214466"/>
                </a:solidFill>
                <a:latin typeface="Trebuchet MS"/>
                <a:cs typeface="Trebuchet MS"/>
              </a:rPr>
              <a:t>D</a:t>
            </a:r>
            <a:r>
              <a:rPr dirty="0" sz="3750" spc="-215" b="1">
                <a:solidFill>
                  <a:srgbClr val="214466"/>
                </a:solidFill>
                <a:latin typeface="Arial"/>
                <a:cs typeface="Arial"/>
              </a:rPr>
              <a:t>eci</a:t>
            </a:r>
            <a:r>
              <a:rPr dirty="0" sz="3650" spc="-215" b="1">
                <a:solidFill>
                  <a:srgbClr val="214466"/>
                </a:solidFill>
                <a:latin typeface="Arial"/>
                <a:cs typeface="Arial"/>
              </a:rPr>
              <a:t>s</a:t>
            </a:r>
            <a:r>
              <a:rPr dirty="0" sz="3750" spc="-215" b="1">
                <a:solidFill>
                  <a:srgbClr val="214466"/>
                </a:solidFill>
                <a:latin typeface="Arial"/>
                <a:cs typeface="Arial"/>
              </a:rPr>
              <a:t>i</a:t>
            </a:r>
            <a:r>
              <a:rPr dirty="0" sz="3650" spc="-215" b="1">
                <a:solidFill>
                  <a:srgbClr val="214466"/>
                </a:solidFill>
                <a:latin typeface="Arial"/>
                <a:cs typeface="Arial"/>
              </a:rPr>
              <a:t>on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35" b="1">
                <a:solidFill>
                  <a:srgbClr val="214466"/>
                </a:solidFill>
                <a:latin typeface="Trebuchet MS"/>
                <a:cs typeface="Trebuchet MS"/>
              </a:rPr>
              <a:t>R</a:t>
            </a:r>
            <a:r>
              <a:rPr dirty="0" sz="3750" spc="-235" b="1">
                <a:solidFill>
                  <a:srgbClr val="214466"/>
                </a:solidFill>
                <a:latin typeface="Arial"/>
                <a:cs typeface="Arial"/>
              </a:rPr>
              <a:t>ec</a:t>
            </a:r>
            <a:r>
              <a:rPr dirty="0" sz="3650" spc="-235" b="1">
                <a:solidFill>
                  <a:srgbClr val="214466"/>
                </a:solidFill>
                <a:latin typeface="Arial"/>
                <a:cs typeface="Arial"/>
              </a:rPr>
              <a:t>or</a:t>
            </a:r>
            <a:r>
              <a:rPr dirty="0" sz="3750" spc="-235" b="1">
                <a:solidFill>
                  <a:srgbClr val="214466"/>
                </a:solidFill>
                <a:latin typeface="Arial"/>
                <a:cs typeface="Arial"/>
              </a:rPr>
              <a:t>d</a:t>
            </a:r>
            <a:r>
              <a:rPr dirty="0" sz="3650" spc="-235" b="1">
                <a:solidFill>
                  <a:srgbClr val="214466"/>
                </a:solidFill>
                <a:latin typeface="Arial"/>
                <a:cs typeface="Arial"/>
              </a:rPr>
              <a:t>s</a:t>
            </a:r>
            <a:r>
              <a:rPr dirty="0" sz="3650" spc="-204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0" b="1">
                <a:solidFill>
                  <a:srgbClr val="214466"/>
                </a:solidFill>
                <a:latin typeface="Trebuchet MS"/>
                <a:cs typeface="Trebuchet MS"/>
              </a:rPr>
              <a:t>(ADR</a:t>
            </a:r>
            <a:r>
              <a:rPr dirty="0" sz="3650" spc="-10" b="1">
                <a:solidFill>
                  <a:srgbClr val="214466"/>
                </a:solidFill>
                <a:latin typeface="Arial"/>
                <a:cs typeface="Arial"/>
              </a:rPr>
              <a:t>s</a:t>
            </a:r>
            <a:r>
              <a:rPr dirty="0" sz="3700" spc="-10" b="1">
                <a:solidFill>
                  <a:srgbClr val="214466"/>
                </a:solidFill>
                <a:latin typeface="Trebuchet MS"/>
                <a:cs typeface="Trebuchet MS"/>
              </a:rPr>
              <a:t>)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31365"/>
            <a:ext cx="481012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>
                <a:solidFill>
                  <a:srgbClr val="1F2328"/>
                </a:solidFill>
              </a:rPr>
              <a:t>ADR</a:t>
            </a:r>
            <a:r>
              <a:rPr dirty="0" sz="300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250">
                <a:solidFill>
                  <a:srgbClr val="1F2328"/>
                </a:solidFill>
                <a:latin typeface="Gill Sans MT"/>
                <a:cs typeface="Gill Sans MT"/>
              </a:rPr>
              <a:t>1:</a:t>
            </a:r>
            <a:r>
              <a:rPr dirty="0" sz="3000" spc="-8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80">
                <a:solidFill>
                  <a:srgbClr val="1F2328"/>
                </a:solidFill>
              </a:rPr>
              <a:t>P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oly</a:t>
            </a:r>
            <a:r>
              <a:rPr dirty="0" sz="3050" spc="-180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lot</a:t>
            </a:r>
            <a:r>
              <a:rPr dirty="0" sz="3000" spc="-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90">
                <a:solidFill>
                  <a:srgbClr val="1F2328"/>
                </a:solidFill>
              </a:rPr>
              <a:t>P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ro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mm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g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1414"/>
            <a:ext cx="7534909" cy="1463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73100">
              <a:lnSpc>
                <a:spcPct val="133000"/>
              </a:lnSpc>
              <a:spcBef>
                <a:spcPts val="95"/>
              </a:spcBef>
            </a:pP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Q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uy</a:t>
            </a:r>
            <a:r>
              <a:rPr dirty="0" sz="2350" spc="-100" b="1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195" b="1">
                <a:solidFill>
                  <a:srgbClr val="1F2328"/>
                </a:solidFill>
                <a:latin typeface="Arial"/>
                <a:cs typeface="Arial"/>
              </a:rPr>
              <a:t>đị</a:t>
            </a:r>
            <a:r>
              <a:rPr dirty="0" sz="2300" spc="-19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95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19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Trebuchet MS"/>
                <a:cs typeface="Trebuchet MS"/>
              </a:rPr>
              <a:t>J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ava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business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logic</a:t>
            </a:r>
            <a:r>
              <a:rPr dirty="0" sz="2300" spc="-6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performance </a:t>
            </a: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175" b="1">
                <a:solidFill>
                  <a:srgbClr val="1F2328"/>
                </a:solidFill>
                <a:latin typeface="Arial"/>
                <a:cs typeface="Arial"/>
              </a:rPr>
              <a:t>ý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229" b="1">
                <a:solidFill>
                  <a:srgbClr val="1F2328"/>
                </a:solidFill>
                <a:latin typeface="Arial"/>
                <a:cs typeface="Arial"/>
              </a:rPr>
              <a:t>d</a:t>
            </a:r>
            <a:r>
              <a:rPr dirty="0" sz="2300" spc="-229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229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est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of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both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worlds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maintainability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+</a:t>
            </a:r>
            <a:r>
              <a:rPr dirty="0" sz="2300" spc="-12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speed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2300" spc="-80" b="1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50" spc="-80" b="1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2300" spc="-8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00" spc="-9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4" b="1">
                <a:solidFill>
                  <a:srgbClr val="1F2328"/>
                </a:solidFill>
                <a:latin typeface="Arial"/>
                <a:cs typeface="Arial"/>
              </a:rPr>
              <a:t>qu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2300" spc="-204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ontent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ervice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85">
                <a:solidFill>
                  <a:srgbClr val="1F2328"/>
                </a:solidFill>
                <a:latin typeface="Trebuchet MS"/>
                <a:cs typeface="Trebuchet MS"/>
              </a:rPr>
              <a:t>J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ava</a:t>
            </a:r>
            <a:r>
              <a:rPr dirty="0" sz="2300" spc="-85">
                <a:solidFill>
                  <a:srgbClr val="1F2328"/>
                </a:solidFill>
                <a:latin typeface="Gill Sans MT"/>
                <a:cs typeface="Gill Sans MT"/>
              </a:rPr>
              <a:t>),</a:t>
            </a:r>
            <a:r>
              <a:rPr dirty="0" sz="2300" spc="-20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coring</a:t>
            </a:r>
            <a:r>
              <a:rPr dirty="0" sz="2300" spc="-80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earner</a:t>
            </a:r>
            <a:r>
              <a:rPr dirty="0" sz="2300" spc="-80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daptive </a:t>
            </a:r>
            <a:r>
              <a:rPr dirty="0" sz="2300" spc="-2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2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2300">
              <a:latin typeface="Gill Sans MT"/>
              <a:cs typeface="Gill Sans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331365"/>
            <a:ext cx="6930390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65" b="1">
                <a:solidFill>
                  <a:srgbClr val="1F2328"/>
                </a:solidFill>
                <a:latin typeface="Trebuchet MS"/>
                <a:cs typeface="Trebuchet MS"/>
              </a:rPr>
              <a:t>ADR</a:t>
            </a:r>
            <a:r>
              <a:rPr dirty="0" sz="3000" spc="65" b="1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75" b="1">
                <a:solidFill>
                  <a:srgbClr val="1F2328"/>
                </a:solidFill>
                <a:latin typeface="Gill Sans MT"/>
                <a:cs typeface="Gill Sans MT"/>
              </a:rPr>
              <a:t>2:</a:t>
            </a:r>
            <a:r>
              <a:rPr dirty="0" sz="3000" spc="-110" b="1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25" b="1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3000" spc="-125" b="1">
                <a:solidFill>
                  <a:srgbClr val="1F2328"/>
                </a:solidFill>
                <a:latin typeface="Arial"/>
                <a:cs typeface="Arial"/>
              </a:rPr>
              <a:t>ost</a:t>
            </a:r>
            <a:r>
              <a:rPr dirty="0" sz="3050" spc="-125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00" spc="-12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2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25" b="1">
                <a:solidFill>
                  <a:srgbClr val="1F2328"/>
                </a:solidFill>
                <a:latin typeface="Trebuchet MS"/>
                <a:cs typeface="Trebuchet MS"/>
              </a:rPr>
              <a:t>SQL</a:t>
            </a:r>
            <a:r>
              <a:rPr dirty="0" sz="3000" spc="-17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3000" spc="-110" b="1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3050" spc="-110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1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110" b="1">
                <a:solidFill>
                  <a:srgbClr val="1F2328"/>
                </a:solidFill>
                <a:latin typeface="Arial"/>
                <a:cs typeface="Arial"/>
              </a:rPr>
              <a:t>aba</a:t>
            </a:r>
            <a:r>
              <a:rPr dirty="0" sz="3000" spc="-110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50" spc="-11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10" b="1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85" b="1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3050" spc="-8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8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00" spc="-85" b="1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4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3050" spc="-4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45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3050" spc="-45" b="1">
                <a:solidFill>
                  <a:srgbClr val="1F2328"/>
                </a:solidFill>
                <a:latin typeface="Arial"/>
                <a:cs typeface="Arial"/>
              </a:rPr>
              <a:t>ice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1414"/>
            <a:ext cx="5275580" cy="14636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12700" marR="5080">
              <a:lnSpc>
                <a:spcPct val="134300"/>
              </a:lnSpc>
              <a:spcBef>
                <a:spcPts val="60"/>
              </a:spcBef>
            </a:pPr>
            <a:r>
              <a:rPr dirty="0" sz="2300" spc="-114" b="1">
                <a:solidFill>
                  <a:srgbClr val="1F2328"/>
                </a:solidFill>
                <a:latin typeface="Trebuchet MS"/>
                <a:cs typeface="Trebuchet MS"/>
              </a:rPr>
              <a:t>Q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uy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00" spc="-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250" b="1">
                <a:solidFill>
                  <a:srgbClr val="1F2328"/>
                </a:solidFill>
                <a:latin typeface="Arial"/>
                <a:cs typeface="Arial"/>
              </a:rPr>
              <a:t>đị</a:t>
            </a:r>
            <a:r>
              <a:rPr dirty="0" sz="2300" spc="-25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250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25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7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>
                <a:solidFill>
                  <a:srgbClr val="1F2328"/>
                </a:solidFill>
                <a:latin typeface="Arial"/>
                <a:cs typeface="Arial"/>
              </a:rPr>
              <a:t>ỗi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service</a:t>
            </a:r>
            <a:r>
              <a:rPr dirty="0" sz="230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5">
                <a:solidFill>
                  <a:srgbClr val="1F2328"/>
                </a:solidFill>
                <a:latin typeface="Arial"/>
                <a:cs typeface="Arial"/>
              </a:rPr>
              <a:t>có</a:t>
            </a:r>
            <a:r>
              <a:rPr dirty="0" sz="230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database</a:t>
            </a:r>
            <a:r>
              <a:rPr dirty="0" sz="2300" spc="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riêng </a:t>
            </a:r>
            <a:r>
              <a:rPr dirty="0" sz="2300" spc="-335" b="1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335" b="1">
                <a:solidFill>
                  <a:srgbClr val="1F2328"/>
                </a:solidFill>
                <a:latin typeface="Arial"/>
                <a:cs typeface="Arial"/>
              </a:rPr>
              <a:t>ý</a:t>
            </a:r>
            <a:r>
              <a:rPr dirty="0" sz="2300" spc="17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345" b="1">
                <a:solidFill>
                  <a:srgbClr val="1F2328"/>
                </a:solidFill>
                <a:latin typeface="Arial"/>
                <a:cs typeface="Arial"/>
              </a:rPr>
              <a:t>d</a:t>
            </a:r>
            <a:r>
              <a:rPr dirty="0" sz="2300" spc="-345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34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35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oose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coupling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5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independent</a:t>
            </a:r>
            <a:r>
              <a:rPr dirty="0" sz="2300" spc="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scaling </a:t>
            </a:r>
            <a:r>
              <a:rPr dirty="0" sz="2300" spc="-80" b="1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50" spc="-80" b="1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2300" spc="-80" b="1">
                <a:solidFill>
                  <a:srgbClr val="1F2328"/>
                </a:solidFill>
                <a:latin typeface="Arial"/>
                <a:cs typeface="Arial"/>
              </a:rPr>
              <a:t>t </a:t>
            </a:r>
            <a:r>
              <a:rPr dirty="0" sz="2300" spc="-204" b="1">
                <a:solidFill>
                  <a:srgbClr val="1F2328"/>
                </a:solidFill>
                <a:latin typeface="Arial"/>
                <a:cs typeface="Arial"/>
              </a:rPr>
              <a:t>qu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2300" spc="-204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content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_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db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19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scoring</a:t>
            </a:r>
            <a:r>
              <a:rPr dirty="0" sz="2300" spc="-95">
                <a:solidFill>
                  <a:srgbClr val="1F2328"/>
                </a:solidFill>
                <a:latin typeface="Gill Sans MT"/>
                <a:cs typeface="Gill Sans MT"/>
              </a:rPr>
              <a:t>_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db</a:t>
            </a:r>
            <a:r>
              <a:rPr dirty="0" sz="2300" spc="-9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19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learner</a:t>
            </a:r>
            <a:r>
              <a:rPr dirty="0" sz="2300" spc="-70">
                <a:solidFill>
                  <a:srgbClr val="1F2328"/>
                </a:solidFill>
                <a:latin typeface="Gill Sans MT"/>
                <a:cs typeface="Gill Sans MT"/>
              </a:rPr>
              <a:t>_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db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3954" y="1089777"/>
            <a:ext cx="4807788" cy="46879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280"/>
              </a:spcBef>
            </a:pPr>
            <a:r>
              <a:rPr dirty="0" sz="3000" spc="65">
                <a:solidFill>
                  <a:srgbClr val="1F2328"/>
                </a:solidFill>
              </a:rPr>
              <a:t>ADR</a:t>
            </a:r>
            <a:r>
              <a:rPr dirty="0" sz="3000" spc="6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35">
                <a:solidFill>
                  <a:srgbClr val="1F2328"/>
                </a:solidFill>
                <a:latin typeface="Gill Sans MT"/>
                <a:cs typeface="Gill Sans MT"/>
              </a:rPr>
              <a:t>3:</a:t>
            </a:r>
            <a:r>
              <a:rPr dirty="0" sz="3000" spc="-20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40">
                <a:solidFill>
                  <a:srgbClr val="1F2328"/>
                </a:solidFill>
              </a:rPr>
              <a:t>C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3050" spc="-140">
                <a:solidFill>
                  <a:srgbClr val="1F2328"/>
                </a:solidFill>
                <a:latin typeface="Arial"/>
                <a:cs typeface="Arial"/>
              </a:rPr>
              <a:t>ea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40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3000" spc="-140">
                <a:solidFill>
                  <a:srgbClr val="1F2328"/>
                </a:solidFill>
              </a:rPr>
              <a:t>H</a:t>
            </a:r>
            <a:r>
              <a:rPr dirty="0" sz="3050" spc="-14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x</a:t>
            </a:r>
            <a:r>
              <a:rPr dirty="0" sz="3050" spc="-140">
                <a:solidFill>
                  <a:srgbClr val="1F2328"/>
                </a:solidFill>
                <a:latin typeface="Arial"/>
                <a:cs typeface="Arial"/>
              </a:rPr>
              <a:t>ag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on</a:t>
            </a:r>
            <a:r>
              <a:rPr dirty="0" sz="3050" spc="-14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l </a:t>
            </a:r>
            <a:r>
              <a:rPr dirty="0" sz="3000" spc="-80">
                <a:solidFill>
                  <a:srgbClr val="1F2328"/>
                </a:solidFill>
              </a:rPr>
              <a:t>A</a:t>
            </a:r>
            <a:r>
              <a:rPr dirty="0" sz="3000" spc="-80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80">
                <a:solidFill>
                  <a:srgbClr val="1F2328"/>
                </a:solidFill>
                <a:latin typeface="Arial"/>
                <a:cs typeface="Arial"/>
              </a:rPr>
              <a:t>chi</a:t>
            </a:r>
            <a:r>
              <a:rPr dirty="0" sz="3000" spc="-80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80">
                <a:solidFill>
                  <a:srgbClr val="1F2328"/>
                </a:solidFill>
                <a:latin typeface="Arial"/>
                <a:cs typeface="Arial"/>
              </a:rPr>
              <a:t>ec</a:t>
            </a:r>
            <a:r>
              <a:rPr dirty="0" sz="3000" spc="-80">
                <a:solidFill>
                  <a:srgbClr val="1F2328"/>
                </a:solidFill>
                <a:latin typeface="Arial"/>
                <a:cs typeface="Arial"/>
              </a:rPr>
              <a:t>tur</a:t>
            </a:r>
            <a:r>
              <a:rPr dirty="0" sz="3050" spc="-80">
                <a:solidFill>
                  <a:srgbClr val="1F2328"/>
                </a:solidFill>
                <a:latin typeface="Arial"/>
                <a:cs typeface="Arial"/>
              </a:rPr>
              <a:t>e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8765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624758"/>
            <a:ext cx="5273040" cy="265684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142240">
              <a:lnSpc>
                <a:spcPct val="118800"/>
              </a:lnSpc>
              <a:spcBef>
                <a:spcPts val="75"/>
              </a:spcBef>
            </a:pP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Q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uy</a:t>
            </a:r>
            <a:r>
              <a:rPr dirty="0" sz="2350" spc="-100" b="1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2300" spc="-10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195" b="1">
                <a:solidFill>
                  <a:srgbClr val="1F2328"/>
                </a:solidFill>
                <a:latin typeface="Arial"/>
                <a:cs typeface="Arial"/>
              </a:rPr>
              <a:t>đị</a:t>
            </a:r>
            <a:r>
              <a:rPr dirty="0" sz="2300" spc="-19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95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19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160">
                <a:solidFill>
                  <a:srgbClr val="1F2328"/>
                </a:solidFill>
                <a:latin typeface="Gill Sans MT"/>
                <a:cs typeface="Gill Sans MT"/>
              </a:rPr>
              <a:t>4</a:t>
            </a:r>
            <a:r>
              <a:rPr dirty="0" sz="2300" spc="-10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layers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1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omain</a:t>
            </a:r>
            <a:r>
              <a:rPr dirty="0" sz="2300" spc="-8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2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30">
                <a:solidFill>
                  <a:srgbClr val="1F2328"/>
                </a:solidFill>
                <a:latin typeface="Arial"/>
                <a:cs typeface="Arial"/>
              </a:rPr>
              <a:t>pplication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, </a:t>
            </a: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dapters</a:t>
            </a:r>
            <a:r>
              <a:rPr dirty="0" sz="2300" spc="-8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17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nfrastructure</a:t>
            </a:r>
            <a:endParaRPr sz="2300">
              <a:latin typeface="Arial"/>
              <a:cs typeface="Arial"/>
            </a:endParaRPr>
          </a:p>
          <a:p>
            <a:pPr marL="12700" marR="946150">
              <a:lnSpc>
                <a:spcPct val="118800"/>
              </a:lnSpc>
              <a:spcBef>
                <a:spcPts val="409"/>
              </a:spcBef>
            </a:pP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175" b="1">
                <a:solidFill>
                  <a:srgbClr val="1F2328"/>
                </a:solidFill>
                <a:latin typeface="Arial"/>
                <a:cs typeface="Arial"/>
              </a:rPr>
              <a:t>ý</a:t>
            </a:r>
            <a:r>
              <a:rPr dirty="0" sz="2300" spc="-9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229" b="1">
                <a:solidFill>
                  <a:srgbClr val="1F2328"/>
                </a:solidFill>
                <a:latin typeface="Arial"/>
                <a:cs typeface="Arial"/>
              </a:rPr>
              <a:t>d</a:t>
            </a:r>
            <a:r>
              <a:rPr dirty="0" sz="2300" spc="-229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229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estability</a:t>
            </a:r>
            <a:r>
              <a:rPr dirty="0" sz="2300" spc="-10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maintainability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Trebuchet MS"/>
                <a:cs typeface="Trebuchet MS"/>
              </a:rPr>
              <a:t>DIP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compliance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16100"/>
              </a:lnSpc>
              <a:spcBef>
                <a:spcPts val="560"/>
              </a:spcBef>
            </a:pPr>
            <a:r>
              <a:rPr dirty="0" sz="2300" spc="-80" b="1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50" spc="-80" b="1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2300" spc="-8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4" b="1">
                <a:solidFill>
                  <a:srgbClr val="1F2328"/>
                </a:solidFill>
                <a:latin typeface="Arial"/>
                <a:cs typeface="Arial"/>
              </a:rPr>
              <a:t>qu</a:t>
            </a:r>
            <a:r>
              <a:rPr dirty="0" sz="2350" spc="-204" b="1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2300" spc="-204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omain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models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tách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biệt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khỏi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40">
                <a:solidFill>
                  <a:srgbClr val="1F2328"/>
                </a:solidFill>
                <a:latin typeface="Trebuchet MS"/>
                <a:cs typeface="Trebuchet MS"/>
              </a:rPr>
              <a:t>ORM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entities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7719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6767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423545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275" b="1">
                <a:solidFill>
                  <a:srgbClr val="214466"/>
                </a:solidFill>
                <a:latin typeface="Trebuchet MS"/>
                <a:cs typeface="Trebuchet MS"/>
              </a:rPr>
              <a:t>8.</a:t>
            </a:r>
            <a:r>
              <a:rPr dirty="0" sz="3700" spc="-52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195" b="1">
                <a:solidFill>
                  <a:srgbClr val="214466"/>
                </a:solidFill>
                <a:latin typeface="Trebuchet MS"/>
                <a:cs typeface="Trebuchet MS"/>
              </a:rPr>
              <a:t>A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r</a:t>
            </a:r>
            <a:r>
              <a:rPr dirty="0" sz="3750" spc="-195" b="1">
                <a:solidFill>
                  <a:srgbClr val="214466"/>
                </a:solidFill>
                <a:latin typeface="Arial"/>
                <a:cs typeface="Arial"/>
              </a:rPr>
              <a:t>chi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t</a:t>
            </a:r>
            <a:r>
              <a:rPr dirty="0" sz="3750" spc="-195" b="1">
                <a:solidFill>
                  <a:srgbClr val="214466"/>
                </a:solidFill>
                <a:latin typeface="Arial"/>
                <a:cs typeface="Arial"/>
              </a:rPr>
              <a:t>ec</a:t>
            </a:r>
            <a:r>
              <a:rPr dirty="0" sz="3650" spc="-195" b="1">
                <a:solidFill>
                  <a:srgbClr val="214466"/>
                </a:solidFill>
                <a:latin typeface="Arial"/>
                <a:cs typeface="Arial"/>
              </a:rPr>
              <a:t>tur</a:t>
            </a:r>
            <a:r>
              <a:rPr dirty="0" sz="3750" spc="-195" b="1">
                <a:solidFill>
                  <a:srgbClr val="214466"/>
                </a:solidFill>
                <a:latin typeface="Arial"/>
                <a:cs typeface="Arial"/>
              </a:rPr>
              <a:t>e</a:t>
            </a:r>
            <a:r>
              <a:rPr dirty="0" sz="37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145" b="1">
                <a:solidFill>
                  <a:srgbClr val="214466"/>
                </a:solidFill>
                <a:latin typeface="Bodoni MT"/>
                <a:cs typeface="Bodoni MT"/>
              </a:rPr>
              <a:t>V</a:t>
            </a:r>
            <a:r>
              <a:rPr dirty="0" sz="3750" spc="-145" b="1">
                <a:solidFill>
                  <a:srgbClr val="214466"/>
                </a:solidFill>
                <a:latin typeface="Arial"/>
                <a:cs typeface="Arial"/>
              </a:rPr>
              <a:t>ie</a:t>
            </a:r>
            <a:r>
              <a:rPr dirty="0" sz="3650" spc="-145" b="1">
                <a:solidFill>
                  <a:srgbClr val="214466"/>
                </a:solidFill>
                <a:latin typeface="Arial"/>
                <a:cs typeface="Arial"/>
              </a:rPr>
              <a:t>ws</a:t>
            </a:r>
            <a:endParaRPr sz="3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1783" y="1243490"/>
            <a:ext cx="5858643" cy="43710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264565"/>
            <a:ext cx="211010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45">
                <a:solidFill>
                  <a:srgbClr val="1F2328"/>
                </a:solidFill>
              </a:rPr>
              <a:t>M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d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ul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5">
                <a:solidFill>
                  <a:srgbClr val="1F2328"/>
                </a:solidFill>
              </a:rPr>
              <a:t>V</a:t>
            </a:r>
            <a:r>
              <a:rPr dirty="0" sz="3050" spc="-105">
                <a:solidFill>
                  <a:srgbClr val="1F2328"/>
                </a:solidFill>
                <a:latin typeface="Arial"/>
                <a:cs typeface="Arial"/>
              </a:rPr>
              <a:t>ie</a:t>
            </a:r>
            <a:r>
              <a:rPr dirty="0" sz="3000" spc="-105">
                <a:solidFill>
                  <a:srgbClr val="1F2328"/>
                </a:solidFill>
                <a:latin typeface="Arial"/>
                <a:cs typeface="Arial"/>
              </a:rPr>
              <a:t>w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200275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1943870"/>
            <a:ext cx="3996054" cy="35667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10"/>
              </a:spcBef>
            </a:pPr>
            <a:r>
              <a:rPr dirty="0" sz="2300" spc="-85" b="1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ont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nt</a:t>
            </a:r>
            <a:r>
              <a:rPr dirty="0" sz="2300" spc="-11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Q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uản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lý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câu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hỏi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nội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dung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tập</a:t>
            </a:r>
            <a:endParaRPr sz="2300">
              <a:latin typeface="Arial"/>
              <a:cs typeface="Arial"/>
            </a:endParaRPr>
          </a:p>
          <a:p>
            <a:pPr marL="12700" marR="204470">
              <a:lnSpc>
                <a:spcPct val="116100"/>
              </a:lnSpc>
              <a:spcBef>
                <a:spcPts val="565"/>
              </a:spcBef>
            </a:pPr>
            <a:r>
              <a:rPr dirty="0" sz="2300" spc="-114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or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hấm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điểm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tự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động</a:t>
            </a:r>
            <a:endParaRPr sz="2300">
              <a:latin typeface="Arial"/>
              <a:cs typeface="Arial"/>
            </a:endParaRPr>
          </a:p>
          <a:p>
            <a:pPr marL="12700" marR="132715">
              <a:lnSpc>
                <a:spcPct val="116100"/>
              </a:lnSpc>
              <a:spcBef>
                <a:spcPts val="560"/>
              </a:spcBef>
            </a:pP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ea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rn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de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heo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dõi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tiến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độ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skill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mastery</a:t>
            </a:r>
            <a:endParaRPr sz="2300">
              <a:latin typeface="Arial"/>
              <a:cs typeface="Arial"/>
            </a:endParaRPr>
          </a:p>
          <a:p>
            <a:pPr marL="12700" marR="475615">
              <a:lnSpc>
                <a:spcPct val="118800"/>
              </a:lnSpc>
              <a:spcBef>
                <a:spcPts val="484"/>
              </a:spcBef>
            </a:pPr>
            <a:r>
              <a:rPr dirty="0" sz="2300" spc="-120" b="1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da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pt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12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17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75" b="1">
                <a:solidFill>
                  <a:srgbClr val="1F2328"/>
                </a:solidFill>
                <a:latin typeface="Arial"/>
                <a:cs typeface="Arial"/>
              </a:rPr>
              <a:t>gi</a:t>
            </a:r>
            <a:r>
              <a:rPr dirty="0" sz="2300" spc="-17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7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7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ề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xuất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nội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dung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thích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ứng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1051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895850"/>
            <a:ext cx="85725" cy="8572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162019"/>
            <a:ext cx="6095999" cy="45434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693190"/>
            <a:ext cx="4051935" cy="941069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340"/>
              </a:spcBef>
            </a:pPr>
            <a:r>
              <a:rPr dirty="0" sz="3000" spc="-165">
                <a:solidFill>
                  <a:srgbClr val="1F2328"/>
                </a:solidFill>
              </a:rPr>
              <a:t>C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ompon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nt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15">
                <a:solidFill>
                  <a:srgbClr val="1F2328"/>
                </a:solidFill>
                <a:latin typeface="Gill Sans MT"/>
                <a:cs typeface="Gill Sans MT"/>
              </a:rPr>
              <a:t>&amp;</a:t>
            </a:r>
            <a:r>
              <a:rPr dirty="0" sz="3000" spc="-18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45">
                <a:solidFill>
                  <a:srgbClr val="1F2328"/>
                </a:solidFill>
              </a:rPr>
              <a:t>C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onn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ec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tor </a:t>
            </a:r>
            <a:r>
              <a:rPr dirty="0" sz="3000" spc="-20">
                <a:solidFill>
                  <a:srgbClr val="1F2328"/>
                </a:solidFill>
              </a:rPr>
              <a:t>V</a:t>
            </a:r>
            <a:r>
              <a:rPr dirty="0" sz="3050" spc="-20">
                <a:solidFill>
                  <a:srgbClr val="1F2328"/>
                </a:solidFill>
                <a:latin typeface="Arial"/>
                <a:cs typeface="Arial"/>
              </a:rPr>
              <a:t>ie</a:t>
            </a:r>
            <a:r>
              <a:rPr dirty="0" sz="3000" spc="-20">
                <a:solidFill>
                  <a:srgbClr val="1F2328"/>
                </a:solidFill>
                <a:latin typeface="Arial"/>
                <a:cs typeface="Arial"/>
              </a:rPr>
              <a:t>w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08610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842517"/>
            <a:ext cx="3979545" cy="22307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615950">
              <a:lnSpc>
                <a:spcPct val="116799"/>
              </a:lnSpc>
              <a:spcBef>
                <a:spcPts val="130"/>
              </a:spcBef>
            </a:pP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REST</a:t>
            </a:r>
            <a:r>
              <a:rPr dirty="0" sz="2300" spc="-16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API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synchronous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communication</a:t>
            </a:r>
            <a:endParaRPr sz="2300">
              <a:latin typeface="Arial"/>
              <a:cs typeface="Arial"/>
            </a:endParaRPr>
          </a:p>
          <a:p>
            <a:pPr marL="12700" marR="517525">
              <a:lnSpc>
                <a:spcPct val="119600"/>
              </a:lnSpc>
              <a:spcBef>
                <a:spcPts val="520"/>
              </a:spcBef>
            </a:pP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R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abbit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MQ</a:t>
            </a:r>
            <a:r>
              <a:rPr dirty="0" sz="2300" spc="-15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asynchronous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events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ostgre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SQL</a:t>
            </a:r>
            <a:r>
              <a:rPr dirty="0" sz="2300" spc="-14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data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persistence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9814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876800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7516" y="1591936"/>
            <a:ext cx="5910425" cy="36105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2131340"/>
            <a:ext cx="252539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65">
                <a:solidFill>
                  <a:srgbClr val="1F2328"/>
                </a:solidFill>
              </a:rPr>
              <a:t>A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llo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ca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on</a:t>
            </a:r>
            <a:r>
              <a:rPr dirty="0" sz="3000" spc="-15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5">
                <a:solidFill>
                  <a:srgbClr val="1F2328"/>
                </a:solidFill>
              </a:rPr>
              <a:t>V</a:t>
            </a:r>
            <a:r>
              <a:rPr dirty="0" sz="3050" spc="-105">
                <a:solidFill>
                  <a:srgbClr val="1F2328"/>
                </a:solidFill>
                <a:latin typeface="Arial"/>
                <a:cs typeface="Arial"/>
              </a:rPr>
              <a:t>ie</a:t>
            </a:r>
            <a:r>
              <a:rPr dirty="0" sz="3000" spc="-105">
                <a:solidFill>
                  <a:srgbClr val="1F2328"/>
                </a:solidFill>
                <a:latin typeface="Arial"/>
                <a:cs typeface="Arial"/>
              </a:rPr>
              <a:t>w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0670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823467"/>
            <a:ext cx="3815715" cy="1821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642620">
              <a:lnSpc>
                <a:spcPct val="116799"/>
              </a:lnSpc>
              <a:spcBef>
                <a:spcPts val="130"/>
              </a:spcBef>
            </a:pP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ocker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containers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mỗi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service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38600"/>
              </a:lnSpc>
            </a:pP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ubernetes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orchestration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ostgre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SQL</a:t>
            </a:r>
            <a:r>
              <a:rPr dirty="0" sz="2300" spc="-14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instances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riêng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biệt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9624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4481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3300729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290" b="1">
                <a:solidFill>
                  <a:srgbClr val="214466"/>
                </a:solidFill>
                <a:latin typeface="Trebuchet MS"/>
                <a:cs typeface="Trebuchet MS"/>
              </a:rPr>
              <a:t>9.</a:t>
            </a:r>
            <a:r>
              <a:rPr dirty="0" sz="3700" spc="-53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210" b="1">
                <a:solidFill>
                  <a:srgbClr val="214466"/>
                </a:solidFill>
                <a:latin typeface="Trebuchet MS"/>
                <a:cs typeface="Trebuchet MS"/>
              </a:rPr>
              <a:t>B</a:t>
            </a:r>
            <a:r>
              <a:rPr dirty="0" sz="3750" spc="-210" b="1">
                <a:solidFill>
                  <a:srgbClr val="214466"/>
                </a:solidFill>
                <a:latin typeface="Arial"/>
                <a:cs typeface="Arial"/>
              </a:rPr>
              <a:t>eha</a:t>
            </a:r>
            <a:r>
              <a:rPr dirty="0" sz="3650" spc="-210" b="1">
                <a:solidFill>
                  <a:srgbClr val="214466"/>
                </a:solidFill>
                <a:latin typeface="Arial"/>
                <a:cs typeface="Arial"/>
              </a:rPr>
              <a:t>v</a:t>
            </a:r>
            <a:r>
              <a:rPr dirty="0" sz="3750" spc="-210" b="1">
                <a:solidFill>
                  <a:srgbClr val="214466"/>
                </a:solidFill>
                <a:latin typeface="Arial"/>
                <a:cs typeface="Arial"/>
              </a:rPr>
              <a:t>i</a:t>
            </a:r>
            <a:r>
              <a:rPr dirty="0" sz="3650" spc="-210" b="1">
                <a:solidFill>
                  <a:srgbClr val="214466"/>
                </a:solidFill>
                <a:latin typeface="Arial"/>
                <a:cs typeface="Arial"/>
              </a:rPr>
              <a:t>or</a:t>
            </a:r>
            <a:r>
              <a:rPr dirty="0" sz="3650" spc="-22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130" b="1">
                <a:solidFill>
                  <a:srgbClr val="214466"/>
                </a:solidFill>
                <a:latin typeface="Bodoni MT"/>
                <a:cs typeface="Bodoni MT"/>
              </a:rPr>
              <a:t>V</a:t>
            </a:r>
            <a:r>
              <a:rPr dirty="0" sz="3750" spc="-130" b="1">
                <a:solidFill>
                  <a:srgbClr val="214466"/>
                </a:solidFill>
                <a:latin typeface="Arial"/>
                <a:cs typeface="Arial"/>
              </a:rPr>
              <a:t>ie</a:t>
            </a:r>
            <a:r>
              <a:rPr dirty="0" sz="3650" spc="-130" b="1">
                <a:solidFill>
                  <a:srgbClr val="214466"/>
                </a:solidFill>
                <a:latin typeface="Arial"/>
                <a:cs typeface="Arial"/>
              </a:rPr>
              <a:t>w</a:t>
            </a:r>
            <a:endParaRPr sz="3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6689" y="1328044"/>
            <a:ext cx="6561506" cy="42043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835940"/>
            <a:ext cx="2857500" cy="941069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340"/>
              </a:spcBef>
            </a:pPr>
            <a:r>
              <a:rPr dirty="0" sz="3000" spc="-160">
                <a:solidFill>
                  <a:srgbClr val="1F2328"/>
                </a:solidFill>
              </a:rPr>
              <a:t>A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da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pt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5">
                <a:solidFill>
                  <a:srgbClr val="1F2328"/>
                </a:solidFill>
              </a:rPr>
              <a:t>C</a:t>
            </a:r>
            <a:r>
              <a:rPr dirty="0" sz="3000" spc="-105">
                <a:solidFill>
                  <a:srgbClr val="1F2328"/>
                </a:solidFill>
                <a:latin typeface="Arial"/>
                <a:cs typeface="Arial"/>
              </a:rPr>
              <a:t>ont</a:t>
            </a:r>
            <a:r>
              <a:rPr dirty="0" sz="3050" spc="-10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05">
                <a:solidFill>
                  <a:srgbClr val="1F2328"/>
                </a:solidFill>
                <a:latin typeface="Arial"/>
                <a:cs typeface="Arial"/>
              </a:rPr>
              <a:t>nt </a:t>
            </a:r>
            <a:r>
              <a:rPr dirty="0" sz="3000" spc="-160">
                <a:solidFill>
                  <a:srgbClr val="1F2328"/>
                </a:solidFill>
              </a:rPr>
              <a:t>D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ry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0">
                <a:solidFill>
                  <a:srgbClr val="1F2328"/>
                </a:solidFill>
              </a:rPr>
              <a:t>F</a:t>
            </a:r>
            <a:r>
              <a:rPr dirty="0" sz="3000" spc="-20">
                <a:solidFill>
                  <a:srgbClr val="1F2328"/>
                </a:solidFill>
                <a:latin typeface="Arial"/>
                <a:cs typeface="Arial"/>
              </a:rPr>
              <a:t>low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06770" y="1970669"/>
            <a:ext cx="3631565" cy="39687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0195" marR="97790" indent="-278130">
              <a:lnSpc>
                <a:spcPct val="119600"/>
              </a:lnSpc>
              <a:spcBef>
                <a:spcPts val="90"/>
              </a:spcBef>
              <a:buFont typeface="Gill Sans MT"/>
              <a:buAutoNum type="arabicPeriod"/>
              <a:tabLst>
                <a:tab pos="293370" algn="l"/>
              </a:tabLst>
            </a:pPr>
            <a:r>
              <a:rPr dirty="0" sz="2300" spc="-3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lient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request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next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lesson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25">
                <a:solidFill>
                  <a:srgbClr val="1F2328"/>
                </a:solidFill>
                <a:latin typeface="Gill Sans MT"/>
                <a:cs typeface="Gill Sans MT"/>
              </a:rPr>
              <a:t>- </a:t>
            </a:r>
            <a:r>
              <a:rPr dirty="0" sz="2300" spc="125">
                <a:solidFill>
                  <a:srgbClr val="1F2328"/>
                </a:solidFill>
                <a:latin typeface="Gill Sans MT"/>
                <a:cs typeface="Gill Sans MT"/>
              </a:rPr>
              <a:t>	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daptive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ngine</a:t>
            </a:r>
            <a:endParaRPr sz="2300">
              <a:latin typeface="Arial"/>
              <a:cs typeface="Arial"/>
            </a:endParaRPr>
          </a:p>
          <a:p>
            <a:pPr marL="290830" indent="-278130">
              <a:lnSpc>
                <a:spcPct val="100000"/>
              </a:lnSpc>
              <a:spcBef>
                <a:spcPts val="990"/>
              </a:spcBef>
              <a:buFont typeface="Gill Sans MT"/>
              <a:buAutoNum type="arabicPeriod"/>
              <a:tabLst>
                <a:tab pos="290830" algn="l"/>
              </a:tabLst>
            </a:pP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ngine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query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earner 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odel</a:t>
            </a:r>
            <a:endParaRPr sz="2300">
              <a:latin typeface="Arial"/>
              <a:cs typeface="Arial"/>
            </a:endParaRPr>
          </a:p>
          <a:p>
            <a:pPr marL="293370">
              <a:lnSpc>
                <a:spcPct val="100000"/>
              </a:lnSpc>
              <a:spcBef>
                <a:spcPts val="540"/>
              </a:spcBef>
            </a:pP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3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et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skill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mastery</a:t>
            </a:r>
            <a:endParaRPr sz="2300">
              <a:latin typeface="Arial"/>
              <a:cs typeface="Arial"/>
            </a:endParaRPr>
          </a:p>
          <a:p>
            <a:pPr marL="290195" marR="347980" indent="-278130">
              <a:lnSpc>
                <a:spcPct val="118200"/>
              </a:lnSpc>
              <a:spcBef>
                <a:spcPts val="565"/>
              </a:spcBef>
              <a:buFont typeface="Gill Sans MT"/>
              <a:buAutoNum type="arabicPeriod" startAt="3"/>
              <a:tabLst>
                <a:tab pos="293370" algn="l"/>
              </a:tabLst>
            </a:pP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ngine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request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ontent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	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ervice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2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et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appropriate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	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question</a:t>
            </a:r>
            <a:endParaRPr sz="2300">
              <a:latin typeface="Arial"/>
              <a:cs typeface="Arial"/>
            </a:endParaRPr>
          </a:p>
          <a:p>
            <a:pPr marL="290195" marR="5080" indent="-278130">
              <a:lnSpc>
                <a:spcPct val="119600"/>
              </a:lnSpc>
              <a:spcBef>
                <a:spcPts val="445"/>
              </a:spcBef>
              <a:buFont typeface="Gill Sans MT"/>
              <a:buAutoNum type="arabicPeriod" startAt="3"/>
              <a:tabLst>
                <a:tab pos="293370" algn="l"/>
              </a:tabLst>
            </a:pP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R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eturn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personalized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content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	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to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lient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71378" y="2007037"/>
            <a:ext cx="6562680" cy="2880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245515"/>
            <a:ext cx="3681729" cy="940435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340"/>
              </a:spcBef>
            </a:pPr>
            <a:r>
              <a:rPr dirty="0" sz="3000" spc="-190">
                <a:solidFill>
                  <a:srgbClr val="1F2328"/>
                </a:solidFill>
              </a:rPr>
              <a:t>A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ss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ssm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nt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15">
                <a:solidFill>
                  <a:srgbClr val="1F2328"/>
                </a:solidFill>
                <a:latin typeface="Gill Sans MT"/>
                <a:cs typeface="Gill Sans MT"/>
              </a:rPr>
              <a:t>&amp;</a:t>
            </a:r>
            <a:r>
              <a:rPr dirty="0" sz="3000" spc="-18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25">
                <a:solidFill>
                  <a:srgbClr val="1F2328"/>
                </a:solidFill>
              </a:rPr>
              <a:t>S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or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g </a:t>
            </a:r>
            <a:r>
              <a:rPr dirty="0" sz="3000" spc="-20">
                <a:solidFill>
                  <a:srgbClr val="1F2328"/>
                </a:solidFill>
              </a:rPr>
              <a:t>F</a:t>
            </a:r>
            <a:r>
              <a:rPr dirty="0" sz="3000" spc="-20">
                <a:solidFill>
                  <a:srgbClr val="1F2328"/>
                </a:solidFill>
                <a:latin typeface="Arial"/>
                <a:cs typeface="Arial"/>
              </a:rPr>
              <a:t>low</a:t>
            </a:r>
            <a:endParaRPr sz="3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06770" y="2399294"/>
            <a:ext cx="3453129" cy="3120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0195" marR="240029" indent="-278130">
              <a:lnSpc>
                <a:spcPct val="116799"/>
              </a:lnSpc>
              <a:spcBef>
                <a:spcPts val="95"/>
              </a:spcBef>
              <a:buFont typeface="Gill Sans MT"/>
              <a:buAutoNum type="arabicPeriod"/>
              <a:tabLst>
                <a:tab pos="293370" algn="l"/>
              </a:tabLst>
            </a:pPr>
            <a:r>
              <a:rPr dirty="0" sz="2300" spc="-3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30">
                <a:solidFill>
                  <a:srgbClr val="1F2328"/>
                </a:solidFill>
                <a:latin typeface="Arial"/>
                <a:cs typeface="Arial"/>
              </a:rPr>
              <a:t>tudent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submit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answer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25">
                <a:solidFill>
                  <a:srgbClr val="1F2328"/>
                </a:solidFill>
                <a:latin typeface="Gill Sans MT"/>
                <a:cs typeface="Gill Sans MT"/>
              </a:rPr>
              <a:t>- </a:t>
            </a:r>
            <a:r>
              <a:rPr dirty="0" sz="2300" spc="125">
                <a:solidFill>
                  <a:srgbClr val="1F2328"/>
                </a:solidFill>
                <a:latin typeface="Gill Sans MT"/>
                <a:cs typeface="Gill Sans MT"/>
              </a:rPr>
              <a:t>	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coring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ervice</a:t>
            </a:r>
            <a:endParaRPr sz="2300">
              <a:latin typeface="Arial"/>
              <a:cs typeface="Arial"/>
            </a:endParaRPr>
          </a:p>
          <a:p>
            <a:pPr marL="290195" marR="181610" indent="-278130">
              <a:lnSpc>
                <a:spcPct val="116799"/>
              </a:lnSpc>
              <a:spcBef>
                <a:spcPts val="600"/>
              </a:spcBef>
              <a:buFont typeface="Gill Sans MT"/>
              <a:buAutoNum type="arabicPeriod"/>
              <a:tabLst>
                <a:tab pos="293370" algn="l"/>
              </a:tabLst>
            </a:pP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coring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evaluates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17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0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tore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	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result</a:t>
            </a:r>
            <a:endParaRPr sz="2300">
              <a:latin typeface="Arial"/>
              <a:cs typeface="Arial"/>
            </a:endParaRPr>
          </a:p>
          <a:p>
            <a:pPr marL="290830" indent="-278130">
              <a:lnSpc>
                <a:spcPct val="100000"/>
              </a:lnSpc>
              <a:spcBef>
                <a:spcPts val="1065"/>
              </a:spcBef>
              <a:buFont typeface="Gill Sans MT"/>
              <a:buAutoNum type="arabicPeriod"/>
              <a:tabLst>
                <a:tab pos="290830" algn="l"/>
              </a:tabLst>
            </a:pP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ublish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event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to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R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abbit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MQ</a:t>
            </a:r>
            <a:endParaRPr sz="2300">
              <a:latin typeface="Trebuchet MS"/>
              <a:cs typeface="Trebuchet MS"/>
            </a:endParaRPr>
          </a:p>
          <a:p>
            <a:pPr marL="290195" marR="108585" indent="-278130">
              <a:lnSpc>
                <a:spcPct val="116799"/>
              </a:lnSpc>
              <a:spcBef>
                <a:spcPts val="600"/>
              </a:spcBef>
              <a:buFont typeface="Gill Sans MT"/>
              <a:buAutoNum type="arabicPeriod"/>
              <a:tabLst>
                <a:tab pos="293370" algn="l"/>
              </a:tabLst>
            </a:pPr>
            <a:r>
              <a:rPr dirty="0" sz="2300" spc="-114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earner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odel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consume </a:t>
            </a:r>
            <a:r>
              <a:rPr dirty="0" sz="2300" spc="125">
                <a:solidFill>
                  <a:srgbClr val="1F2328"/>
                </a:solidFill>
                <a:latin typeface="Gill Sans MT"/>
                <a:cs typeface="Gill Sans MT"/>
              </a:rPr>
              <a:t>- </a:t>
            </a:r>
            <a:r>
              <a:rPr dirty="0" sz="2300" spc="125">
                <a:solidFill>
                  <a:srgbClr val="1F2328"/>
                </a:solidFill>
                <a:latin typeface="Gill Sans MT"/>
                <a:cs typeface="Gill Sans MT"/>
              </a:rPr>
              <a:t>	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U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pdate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skill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mastery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6216015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370" b="1">
                <a:solidFill>
                  <a:srgbClr val="214466"/>
                </a:solidFill>
                <a:latin typeface="Trebuchet MS"/>
                <a:cs typeface="Trebuchet MS"/>
              </a:rPr>
              <a:t>10.</a:t>
            </a:r>
            <a:r>
              <a:rPr dirty="0" sz="3700" spc="-54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120" b="1">
                <a:solidFill>
                  <a:srgbClr val="214466"/>
                </a:solidFill>
                <a:latin typeface="Trebuchet MS"/>
                <a:cs typeface="Trebuchet MS"/>
              </a:rPr>
              <a:t>Á</a:t>
            </a:r>
            <a:r>
              <a:rPr dirty="0" sz="3650" spc="-120" b="1">
                <a:solidFill>
                  <a:srgbClr val="214466"/>
                </a:solidFill>
                <a:latin typeface="Arial"/>
                <a:cs typeface="Arial"/>
              </a:rPr>
              <a:t>p</a:t>
            </a:r>
            <a:r>
              <a:rPr dirty="0" sz="3650" spc="-24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00" b="1">
                <a:solidFill>
                  <a:srgbClr val="214466"/>
                </a:solidFill>
                <a:latin typeface="Trebuchet MS"/>
                <a:cs typeface="Trebuchet MS"/>
              </a:rPr>
              <a:t>D</a:t>
            </a:r>
            <a:r>
              <a:rPr dirty="0" sz="3650" spc="-200" b="1">
                <a:solidFill>
                  <a:srgbClr val="214466"/>
                </a:solidFill>
                <a:latin typeface="Arial"/>
                <a:cs typeface="Arial"/>
              </a:rPr>
              <a:t>ụn</a:t>
            </a:r>
            <a:r>
              <a:rPr dirty="0" sz="3750" spc="-200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r>
              <a:rPr dirty="0" sz="3750" spc="-27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15" b="1">
                <a:solidFill>
                  <a:srgbClr val="214466"/>
                </a:solidFill>
                <a:latin typeface="Trebuchet MS"/>
                <a:cs typeface="Trebuchet MS"/>
              </a:rPr>
              <a:t>N</a:t>
            </a:r>
            <a:r>
              <a:rPr dirty="0" sz="3750" spc="-215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r>
              <a:rPr dirty="0" sz="3650" spc="-215" b="1">
                <a:solidFill>
                  <a:srgbClr val="214466"/>
                </a:solidFill>
                <a:latin typeface="Arial"/>
                <a:cs typeface="Arial"/>
              </a:rPr>
              <a:t>uy</a:t>
            </a:r>
            <a:r>
              <a:rPr dirty="0" sz="3750" spc="-215" b="1">
                <a:solidFill>
                  <a:srgbClr val="214466"/>
                </a:solidFill>
                <a:latin typeface="Arial"/>
                <a:cs typeface="Arial"/>
              </a:rPr>
              <a:t>ê</a:t>
            </a:r>
            <a:r>
              <a:rPr dirty="0" sz="3650" spc="-215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254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750" spc="-254" b="1">
                <a:solidFill>
                  <a:srgbClr val="214466"/>
                </a:solidFill>
                <a:latin typeface="Arial"/>
                <a:cs typeface="Arial"/>
              </a:rPr>
              <a:t>ắc</a:t>
            </a:r>
            <a:r>
              <a:rPr dirty="0" sz="3750" spc="-27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0" b="1">
                <a:solidFill>
                  <a:srgbClr val="214466"/>
                </a:solidFill>
                <a:latin typeface="Trebuchet MS"/>
                <a:cs typeface="Trebuchet MS"/>
              </a:rPr>
              <a:t>SOLID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9805" y="1461135"/>
            <a:ext cx="5272779" cy="393575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693190"/>
            <a:ext cx="4877435" cy="940435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340"/>
              </a:spcBef>
            </a:pPr>
            <a:r>
              <a:rPr dirty="0" sz="3000" spc="-125">
                <a:solidFill>
                  <a:srgbClr val="1F2328"/>
                </a:solidFill>
              </a:rPr>
              <a:t>S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85">
                <a:solidFill>
                  <a:srgbClr val="1F2328"/>
                </a:solidFill>
              </a:rPr>
              <a:t>R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spons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ibi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ty</a:t>
            </a:r>
            <a:r>
              <a:rPr dirty="0" sz="3000" spc="-15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50">
                <a:solidFill>
                  <a:srgbClr val="1F2328"/>
                </a:solidFill>
              </a:rPr>
              <a:t>P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ci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pl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e </a:t>
            </a:r>
            <a:r>
              <a:rPr dirty="0" sz="3000" spc="-1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10">
                <a:solidFill>
                  <a:srgbClr val="1F2328"/>
                </a:solidFill>
              </a:rPr>
              <a:t>SRP</a:t>
            </a:r>
            <a:r>
              <a:rPr dirty="0" sz="3000" spc="-1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08610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846969"/>
            <a:ext cx="4406265" cy="2225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54330">
              <a:lnSpc>
                <a:spcPct val="116799"/>
              </a:lnSpc>
              <a:spcBef>
                <a:spcPts val="95"/>
              </a:spcBef>
            </a:pP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>
                <a:solidFill>
                  <a:srgbClr val="1F2328"/>
                </a:solidFill>
                <a:latin typeface="Arial"/>
                <a:cs typeface="Arial"/>
              </a:rPr>
              <a:t>ỗi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microservice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có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một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ounded </a:t>
            </a:r>
            <a:r>
              <a:rPr dirty="0" sz="2300" spc="-5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ontext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duy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nhất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30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>
                <a:solidFill>
                  <a:srgbClr val="1F2328"/>
                </a:solidFill>
                <a:latin typeface="Arial"/>
                <a:cs typeface="Arial"/>
              </a:rPr>
              <a:t>ỗi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class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có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một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trách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nhiệm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rõ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ràng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16799"/>
              </a:lnSpc>
              <a:spcBef>
                <a:spcPts val="600"/>
              </a:spcBef>
            </a:pP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V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í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dụ</a:t>
            </a:r>
            <a:r>
              <a:rPr dirty="0" sz="2300" spc="-75">
                <a:solidFill>
                  <a:srgbClr val="1F2328"/>
                </a:solidFill>
                <a:latin typeface="Gill Sans MT"/>
                <a:cs typeface="Gill Sans MT"/>
              </a:rPr>
              <a:t>:</a:t>
            </a:r>
            <a:r>
              <a:rPr dirty="0" sz="2300" spc="-10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coring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ervice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chỉ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chấm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điểm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,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không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quản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lý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content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9814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46722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331365"/>
            <a:ext cx="4733290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35" b="1">
                <a:solidFill>
                  <a:srgbClr val="1F2328"/>
                </a:solidFill>
                <a:latin typeface="Trebuchet MS"/>
                <a:cs typeface="Trebuchet MS"/>
              </a:rPr>
              <a:t>O</a:t>
            </a:r>
            <a:r>
              <a:rPr dirty="0" sz="3000" spc="-135" b="1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3050" spc="-13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3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35" b="1">
                <a:solidFill>
                  <a:srgbClr val="1F2328"/>
                </a:solidFill>
                <a:latin typeface="Gill Sans MT"/>
                <a:cs typeface="Gill Sans MT"/>
              </a:rPr>
              <a:t>/</a:t>
            </a:r>
            <a:r>
              <a:rPr dirty="0" sz="3000" spc="-135" b="1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3000" spc="-135" b="1">
                <a:solidFill>
                  <a:srgbClr val="1F2328"/>
                </a:solidFill>
                <a:latin typeface="Arial"/>
                <a:cs typeface="Arial"/>
              </a:rPr>
              <a:t>los</a:t>
            </a:r>
            <a:r>
              <a:rPr dirty="0" sz="3050" spc="-135" b="1">
                <a:solidFill>
                  <a:srgbClr val="1F2328"/>
                </a:solidFill>
                <a:latin typeface="Arial"/>
                <a:cs typeface="Arial"/>
              </a:rPr>
              <a:t>ed</a:t>
            </a:r>
            <a:r>
              <a:rPr dirty="0" sz="3050" spc="-1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75" b="1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ci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pl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50" spc="-15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10" b="1">
                <a:solidFill>
                  <a:srgbClr val="1F2328"/>
                </a:solidFill>
                <a:latin typeface="Trebuchet MS"/>
                <a:cs typeface="Trebuchet MS"/>
              </a:rPr>
              <a:t>OCP</a:t>
            </a:r>
            <a:r>
              <a:rPr dirty="0" sz="3000" spc="-10" b="1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0794"/>
            <a:ext cx="5260340" cy="14630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37200"/>
              </a:lnSpc>
              <a:spcBef>
                <a:spcPts val="55"/>
              </a:spcBef>
            </a:pP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trategy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attern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cho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scoring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algorithms </a:t>
            </a:r>
            <a:r>
              <a:rPr dirty="0" sz="2300" spc="-70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nterface</a:t>
            </a:r>
            <a:r>
              <a:rPr dirty="0" sz="2300" spc="-7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based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design cho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extensibility </a:t>
            </a:r>
            <a:r>
              <a:rPr dirty="0" sz="2300" spc="-12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hêm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algorithm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90">
                <a:solidFill>
                  <a:srgbClr val="1F2328"/>
                </a:solidFill>
                <a:latin typeface="Arial"/>
                <a:cs typeface="Arial"/>
              </a:rPr>
              <a:t>mới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không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20">
                <a:solidFill>
                  <a:srgbClr val="1F2328"/>
                </a:solidFill>
                <a:latin typeface="Arial"/>
                <a:cs typeface="Arial"/>
              </a:rPr>
              <a:t>sửa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code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hiện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có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331365"/>
            <a:ext cx="6038215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75" b="1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de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y</a:t>
            </a:r>
            <a:r>
              <a:rPr dirty="0" sz="3000" spc="-1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10" b="1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3000" spc="-210" b="1">
                <a:solidFill>
                  <a:srgbClr val="1F2328"/>
                </a:solidFill>
                <a:latin typeface="Arial"/>
                <a:cs typeface="Arial"/>
              </a:rPr>
              <a:t>nv</a:t>
            </a:r>
            <a:r>
              <a:rPr dirty="0" sz="3050" spc="-21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210" b="1">
                <a:solidFill>
                  <a:srgbClr val="1F2328"/>
                </a:solidFill>
                <a:latin typeface="Arial"/>
                <a:cs typeface="Arial"/>
              </a:rPr>
              <a:t>rs</a:t>
            </a:r>
            <a:r>
              <a:rPr dirty="0" sz="3050" spc="-21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210" b="1">
                <a:solidFill>
                  <a:srgbClr val="1F2328"/>
                </a:solidFill>
                <a:latin typeface="Arial"/>
                <a:cs typeface="Arial"/>
              </a:rPr>
              <a:t>on</a:t>
            </a:r>
            <a:r>
              <a:rPr dirty="0" sz="3000" spc="-1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75" b="1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ci</a:t>
            </a:r>
            <a:r>
              <a:rPr dirty="0" sz="3000" spc="-175" b="1">
                <a:solidFill>
                  <a:srgbClr val="1F2328"/>
                </a:solidFill>
                <a:latin typeface="Arial"/>
                <a:cs typeface="Arial"/>
              </a:rPr>
              <a:t>pl</a:t>
            </a:r>
            <a:r>
              <a:rPr dirty="0" sz="3050" spc="-17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50" spc="-15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10" b="1">
                <a:solidFill>
                  <a:srgbClr val="1F2328"/>
                </a:solidFill>
                <a:latin typeface="Trebuchet MS"/>
                <a:cs typeface="Trebuchet MS"/>
              </a:rPr>
              <a:t>DIP</a:t>
            </a:r>
            <a:r>
              <a:rPr dirty="0" sz="3000" spc="-10" b="1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0794"/>
            <a:ext cx="4787900" cy="14636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37200"/>
              </a:lnSpc>
              <a:spcBef>
                <a:spcPts val="55"/>
              </a:spcBef>
            </a:pP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pplication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layer</a:t>
            </a:r>
            <a:r>
              <a:rPr dirty="0" sz="2300" spc="-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phụ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thuộc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abstractions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nfrastructure</a:t>
            </a:r>
            <a:r>
              <a:rPr dirty="0" sz="2300" spc="-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>
                <a:solidFill>
                  <a:srgbClr val="1F2328"/>
                </a:solidFill>
                <a:latin typeface="Arial"/>
                <a:cs typeface="Arial"/>
              </a:rPr>
              <a:t>layer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implement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5">
                <a:solidFill>
                  <a:srgbClr val="1F2328"/>
                </a:solidFill>
                <a:latin typeface="Arial"/>
                <a:cs typeface="Arial"/>
              </a:rPr>
              <a:t>interfaces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ễ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dàng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mock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trong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unit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tests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459613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565" b="1">
                <a:solidFill>
                  <a:srgbClr val="214466"/>
                </a:solidFill>
                <a:latin typeface="Trebuchet MS"/>
                <a:cs typeface="Trebuchet MS"/>
              </a:rPr>
              <a:t>11.</a:t>
            </a:r>
            <a:r>
              <a:rPr dirty="0" sz="3700" spc="-550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650" spc="-254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r</a:t>
            </a:r>
            <a:r>
              <a:rPr dirty="0" sz="3750" spc="-254" b="1">
                <a:solidFill>
                  <a:srgbClr val="214466"/>
                </a:solidFill>
                <a:latin typeface="Arial"/>
                <a:cs typeface="Arial"/>
              </a:rPr>
              <a:t>iể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5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04" b="1">
                <a:solidFill>
                  <a:srgbClr val="214466"/>
                </a:solidFill>
                <a:latin typeface="Trebuchet MS"/>
                <a:cs typeface="Trebuchet MS"/>
              </a:rPr>
              <a:t>K</a:t>
            </a:r>
            <a:r>
              <a:rPr dirty="0" sz="3750" spc="-204" b="1">
                <a:solidFill>
                  <a:srgbClr val="214466"/>
                </a:solidFill>
                <a:latin typeface="Arial"/>
                <a:cs typeface="Arial"/>
              </a:rPr>
              <a:t>hai</a:t>
            </a:r>
            <a:r>
              <a:rPr dirty="0" sz="3750" spc="-28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25" b="1">
                <a:solidFill>
                  <a:srgbClr val="214466"/>
                </a:solidFill>
                <a:latin typeface="Trebuchet MS"/>
                <a:cs typeface="Trebuchet MS"/>
              </a:rPr>
              <a:t>H</a:t>
            </a:r>
            <a:r>
              <a:rPr dirty="0" sz="3750" spc="-125" b="1">
                <a:solidFill>
                  <a:srgbClr val="214466"/>
                </a:solidFill>
                <a:latin typeface="Arial"/>
                <a:cs typeface="Arial"/>
              </a:rPr>
              <a:t>ệ</a:t>
            </a:r>
            <a:r>
              <a:rPr dirty="0" sz="3750" spc="-28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190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750" spc="-190" b="1">
                <a:solidFill>
                  <a:srgbClr val="214466"/>
                </a:solidFill>
                <a:latin typeface="Arial"/>
                <a:cs typeface="Arial"/>
              </a:rPr>
              <a:t>h</a:t>
            </a:r>
            <a:r>
              <a:rPr dirty="0" sz="3650" spc="-190" b="1">
                <a:solidFill>
                  <a:srgbClr val="214466"/>
                </a:solidFill>
                <a:latin typeface="Arial"/>
                <a:cs typeface="Arial"/>
              </a:rPr>
              <a:t>ốn</a:t>
            </a:r>
            <a:r>
              <a:rPr dirty="0" sz="3750" spc="-190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endParaRPr sz="37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1476359"/>
            <a:ext cx="5486399" cy="391479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712240"/>
            <a:ext cx="461708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50">
                <a:solidFill>
                  <a:srgbClr val="1F2328"/>
                </a:solidFill>
              </a:rPr>
              <a:t>MVP</a:t>
            </a:r>
            <a:r>
              <a:rPr dirty="0" sz="3000" spc="-270">
                <a:solidFill>
                  <a:srgbClr val="1F2328"/>
                </a:solidFill>
              </a:rPr>
              <a:t> </a:t>
            </a:r>
            <a:r>
              <a:rPr dirty="0" sz="3000" spc="-155">
                <a:solidFill>
                  <a:srgbClr val="1F2328"/>
                </a:solidFill>
              </a:rPr>
              <a:t>H</a:t>
            </a:r>
            <a:r>
              <a:rPr dirty="0" sz="3050" spc="-155">
                <a:solidFill>
                  <a:srgbClr val="1F2328"/>
                </a:solidFill>
                <a:latin typeface="Arial"/>
                <a:cs typeface="Arial"/>
              </a:rPr>
              <a:t>iệ</a:t>
            </a:r>
            <a:r>
              <a:rPr dirty="0" sz="3000" spc="-15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95">
                <a:solidFill>
                  <a:srgbClr val="1F2328"/>
                </a:solidFill>
              </a:rPr>
              <a:t>T</a:t>
            </a:r>
            <a:r>
              <a:rPr dirty="0" sz="3050" spc="-295">
                <a:solidFill>
                  <a:srgbClr val="1F2328"/>
                </a:solidFill>
                <a:latin typeface="Arial"/>
                <a:cs typeface="Arial"/>
              </a:rPr>
              <a:t>ại</a:t>
            </a:r>
            <a:r>
              <a:rPr dirty="0" sz="3050" spc="-2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8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80">
                <a:solidFill>
                  <a:srgbClr val="1F2328"/>
                </a:solidFill>
              </a:rPr>
              <a:t>Ð</a:t>
            </a:r>
            <a:r>
              <a:rPr dirty="0" sz="3050" spc="-80">
                <a:solidFill>
                  <a:srgbClr val="1F2328"/>
                </a:solidFill>
                <a:latin typeface="Arial"/>
                <a:cs typeface="Arial"/>
              </a:rPr>
              <a:t>ã</a:t>
            </a:r>
            <a:r>
              <a:rPr dirty="0" sz="3050" spc="-2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35">
                <a:solidFill>
                  <a:srgbClr val="1F2328"/>
                </a:solidFill>
              </a:rPr>
              <a:t>T</a:t>
            </a:r>
            <a:r>
              <a:rPr dirty="0" sz="3000" spc="-23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235">
                <a:solidFill>
                  <a:srgbClr val="1F2328"/>
                </a:solidFill>
                <a:latin typeface="Arial"/>
                <a:cs typeface="Arial"/>
              </a:rPr>
              <a:t>iể</a:t>
            </a:r>
            <a:r>
              <a:rPr dirty="0" sz="3000" spc="-23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5">
                <a:solidFill>
                  <a:srgbClr val="1F2328"/>
                </a:solidFill>
              </a:rPr>
              <a:t>K</a:t>
            </a:r>
            <a:r>
              <a:rPr dirty="0" sz="3050" spc="-105">
                <a:solidFill>
                  <a:srgbClr val="1F2328"/>
                </a:solidFill>
                <a:latin typeface="Arial"/>
                <a:cs typeface="Arial"/>
              </a:rPr>
              <a:t>hai</a:t>
            </a:r>
            <a:r>
              <a:rPr dirty="0" sz="3000" spc="-105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6479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396158"/>
            <a:ext cx="4142740" cy="265747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281305">
              <a:lnSpc>
                <a:spcPct val="118800"/>
              </a:lnSpc>
              <a:spcBef>
                <a:spcPts val="75"/>
              </a:spcBef>
            </a:pP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65">
                <a:solidFill>
                  <a:srgbClr val="1F2328"/>
                </a:solidFill>
                <a:latin typeface="Gill Sans MT"/>
                <a:cs typeface="Gill Sans MT"/>
              </a:rPr>
              <a:t>4/7</a:t>
            </a:r>
            <a:r>
              <a:rPr dirty="0" sz="2300" spc="-8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ontent</a:t>
            </a:r>
            <a:r>
              <a:rPr dirty="0" sz="2300" spc="-5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04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coring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, </a:t>
            </a:r>
            <a:r>
              <a:rPr dirty="0" sz="2300" spc="-114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earner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odel</a:t>
            </a:r>
            <a:r>
              <a:rPr dirty="0" sz="2300" spc="-45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1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daptive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0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40">
                <a:solidFill>
                  <a:srgbClr val="1F2328"/>
                </a:solidFill>
                <a:latin typeface="Arial"/>
                <a:cs typeface="Arial"/>
              </a:rPr>
              <a:t>ngine</a:t>
            </a:r>
            <a:r>
              <a:rPr dirty="0" sz="2300" spc="-4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2300">
              <a:latin typeface="Gill Sans MT"/>
              <a:cs typeface="Gill Sans MT"/>
            </a:endParaRPr>
          </a:p>
          <a:p>
            <a:pPr marL="12700" marR="5080">
              <a:lnSpc>
                <a:spcPct val="116100"/>
              </a:lnSpc>
              <a:spcBef>
                <a:spcPts val="560"/>
              </a:spcBef>
            </a:pPr>
            <a:r>
              <a:rPr dirty="0" sz="2300" spc="-114" b="1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aba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50" spc="-7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10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50" spc="-210" b="1">
                <a:solidFill>
                  <a:srgbClr val="1F2328"/>
                </a:solidFill>
                <a:latin typeface="Arial"/>
                <a:cs typeface="Arial"/>
              </a:rPr>
              <a:t>ab</a:t>
            </a:r>
            <a:r>
              <a:rPr dirty="0" sz="2300" spc="-210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2350" spc="-21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210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00" spc="-21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0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1F2328"/>
                </a:solidFill>
                <a:latin typeface="Gill Sans MT"/>
                <a:cs typeface="Gill Sans MT"/>
              </a:rPr>
              <a:t>3/14</a:t>
            </a:r>
            <a:r>
              <a:rPr dirty="0" sz="2300" spc="-4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questions</a:t>
            </a:r>
            <a:r>
              <a:rPr dirty="0" sz="2300" spc="-60">
                <a:solidFill>
                  <a:srgbClr val="1F2328"/>
                </a:solidFill>
                <a:latin typeface="Gill Sans MT"/>
                <a:cs typeface="Gill Sans MT"/>
              </a:rPr>
              <a:t>,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submissions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17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skill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_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mastery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2300">
              <a:latin typeface="Gill Sans MT"/>
              <a:cs typeface="Gill Sans MT"/>
            </a:endParaRPr>
          </a:p>
          <a:p>
            <a:pPr marL="12700" marR="50800">
              <a:lnSpc>
                <a:spcPct val="116100"/>
              </a:lnSpc>
              <a:spcBef>
                <a:spcPts val="565"/>
              </a:spcBef>
            </a:pPr>
            <a:r>
              <a:rPr dirty="0" sz="2300" spc="-95" b="1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95" b="1">
                <a:solidFill>
                  <a:srgbClr val="1F2328"/>
                </a:solidFill>
                <a:latin typeface="Arial"/>
                <a:cs typeface="Arial"/>
              </a:rPr>
              <a:t>or</a:t>
            </a:r>
            <a:r>
              <a:rPr dirty="0" sz="2350" spc="-9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5" b="1">
                <a:solidFill>
                  <a:srgbClr val="1F2328"/>
                </a:solidFill>
                <a:latin typeface="Trebuchet MS"/>
                <a:cs typeface="Trebuchet MS"/>
              </a:rPr>
              <a:t>F</a:t>
            </a:r>
            <a:r>
              <a:rPr dirty="0" sz="2300" spc="-185" b="1">
                <a:solidFill>
                  <a:srgbClr val="1F2328"/>
                </a:solidFill>
                <a:latin typeface="Arial"/>
                <a:cs typeface="Arial"/>
              </a:rPr>
              <a:t>lows</a:t>
            </a:r>
            <a:r>
              <a:rPr dirty="0" sz="2300" spc="-18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65">
                <a:solidFill>
                  <a:srgbClr val="1F2328"/>
                </a:solidFill>
                <a:latin typeface="Gill Sans MT"/>
                <a:cs typeface="Gill Sans MT"/>
              </a:rPr>
              <a:t>2/5</a:t>
            </a:r>
            <a:r>
              <a:rPr dirty="0" sz="2300" spc="-10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verified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2300" spc="-4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40">
                <a:solidFill>
                  <a:srgbClr val="1F2328"/>
                </a:solidFill>
                <a:latin typeface="Arial"/>
                <a:cs typeface="Arial"/>
              </a:rPr>
              <a:t>daptive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elivery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19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ssessment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coring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2300">
              <a:latin typeface="Gill Sans MT"/>
              <a:cs typeface="Gill Sans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552825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4481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93240"/>
            <a:ext cx="290322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20">
                <a:solidFill>
                  <a:srgbClr val="1F2328"/>
                </a:solidFill>
              </a:rPr>
              <a:t>K</a:t>
            </a:r>
            <a:r>
              <a:rPr dirty="0" sz="3050" spc="-120">
                <a:solidFill>
                  <a:srgbClr val="1F2328"/>
                </a:solidFill>
                <a:latin typeface="Arial"/>
                <a:cs typeface="Arial"/>
              </a:rPr>
              <a:t>ế</a:t>
            </a:r>
            <a:r>
              <a:rPr dirty="0" sz="3000" spc="-120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0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60">
                <a:solidFill>
                  <a:srgbClr val="1F2328"/>
                </a:solidFill>
              </a:rPr>
              <a:t>Q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3050" spc="-2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55">
                <a:solidFill>
                  <a:srgbClr val="1F2328"/>
                </a:solidFill>
              </a:rPr>
              <a:t>Ð</a:t>
            </a:r>
            <a:r>
              <a:rPr dirty="0" sz="3050" spc="-55">
                <a:solidFill>
                  <a:srgbClr val="1F2328"/>
                </a:solidFill>
                <a:latin typeface="Arial"/>
                <a:cs typeface="Arial"/>
              </a:rPr>
              <a:t>ạ</a:t>
            </a:r>
            <a:r>
              <a:rPr dirty="0" sz="3000" spc="-55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20">
                <a:solidFill>
                  <a:srgbClr val="1F2328"/>
                </a:solidFill>
              </a:rPr>
              <a:t>Ð</a:t>
            </a:r>
            <a:r>
              <a:rPr dirty="0" sz="3000" spc="-320">
                <a:solidFill>
                  <a:srgbClr val="1F2328"/>
                </a:solidFill>
                <a:latin typeface="Arial"/>
                <a:cs typeface="Arial"/>
              </a:rPr>
              <a:t>ượ</a:t>
            </a:r>
            <a:r>
              <a:rPr dirty="0" sz="3050" spc="-320">
                <a:solidFill>
                  <a:srgbClr val="1F2328"/>
                </a:solidFill>
                <a:latin typeface="Arial"/>
                <a:cs typeface="Arial"/>
              </a:rPr>
              <a:t>c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02895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13619"/>
            <a:ext cx="7131050" cy="19685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704339">
              <a:lnSpc>
                <a:spcPct val="138600"/>
              </a:lnSpc>
              <a:spcBef>
                <a:spcPts val="90"/>
              </a:spcBef>
            </a:pP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odularity</a:t>
            </a:r>
            <a:r>
              <a:rPr dirty="0" sz="2300" spc="-50">
                <a:solidFill>
                  <a:srgbClr val="1F2328"/>
                </a:solidFill>
                <a:latin typeface="Gill Sans MT"/>
                <a:cs typeface="Gill Sans MT"/>
              </a:rPr>
              <a:t>: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160">
                <a:solidFill>
                  <a:srgbClr val="1F2328"/>
                </a:solidFill>
                <a:latin typeface="Gill Sans MT"/>
                <a:cs typeface="Gill Sans MT"/>
              </a:rPr>
              <a:t>4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microservices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độc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lập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estability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: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lean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rchitecture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 phép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mock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38600"/>
              </a:lnSpc>
            </a:pP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aintainability</a:t>
            </a:r>
            <a:r>
              <a:rPr dirty="0" sz="2300" spc="-60">
                <a:solidFill>
                  <a:srgbClr val="1F2328"/>
                </a:solidFill>
                <a:latin typeface="Gill Sans MT"/>
                <a:cs typeface="Gill Sans MT"/>
              </a:rPr>
              <a:t>:</a:t>
            </a:r>
            <a:r>
              <a:rPr dirty="0" sz="2300" spc="-10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omplexity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0">
                <a:solidFill>
                  <a:srgbClr val="1F2328"/>
                </a:solidFill>
                <a:latin typeface="Gill Sans MT"/>
                <a:cs typeface="Gill Sans MT"/>
              </a:rPr>
              <a:t>7.2,</a:t>
            </a:r>
            <a:r>
              <a:rPr dirty="0" sz="2300" spc="-21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oupling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50">
                <a:solidFill>
                  <a:srgbClr val="1F2328"/>
                </a:solidFill>
                <a:latin typeface="Gill Sans MT"/>
                <a:cs typeface="Gill Sans MT"/>
              </a:rPr>
              <a:t>3.8,</a:t>
            </a:r>
            <a:r>
              <a:rPr dirty="0" sz="2300" spc="-21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ohesion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80">
                <a:solidFill>
                  <a:srgbClr val="1F2328"/>
                </a:solidFill>
                <a:latin typeface="Gill Sans MT"/>
                <a:cs typeface="Gill Sans MT"/>
              </a:rPr>
              <a:t>0.85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daptive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L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earning</a:t>
            </a:r>
            <a:r>
              <a:rPr dirty="0" sz="2300" spc="-95">
                <a:solidFill>
                  <a:srgbClr val="1F2328"/>
                </a:solidFill>
                <a:latin typeface="Gill Sans MT"/>
                <a:cs typeface="Gill Sans MT"/>
              </a:rPr>
              <a:t>:</a:t>
            </a:r>
            <a:r>
              <a:rPr dirty="0" sz="2300" spc="-9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>
                <a:solidFill>
                  <a:srgbClr val="1F2328"/>
                </a:solidFill>
                <a:latin typeface="Gill Sans MT"/>
                <a:cs typeface="Gill Sans MT"/>
              </a:rPr>
              <a:t>100</a:t>
            </a:r>
            <a:r>
              <a:rPr dirty="0" sz="2300">
                <a:solidFill>
                  <a:srgbClr val="1F2328"/>
                </a:solidFill>
                <a:latin typeface="Georgia"/>
                <a:cs typeface="Georgia"/>
              </a:rPr>
              <a:t>%</a:t>
            </a:r>
            <a:r>
              <a:rPr dirty="0" sz="2300" spc="-10">
                <a:solidFill>
                  <a:srgbClr val="1F2328"/>
                </a:solidFill>
                <a:latin typeface="Georgia"/>
                <a:cs typeface="Georgia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core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functionality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hoạt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động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514725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4862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491998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405" b="1">
                <a:solidFill>
                  <a:srgbClr val="214466"/>
                </a:solidFill>
                <a:latin typeface="Trebuchet MS"/>
                <a:cs typeface="Trebuchet MS"/>
              </a:rPr>
              <a:t>12.</a:t>
            </a:r>
            <a:r>
              <a:rPr dirty="0" sz="3700" spc="-54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175" b="1">
                <a:solidFill>
                  <a:srgbClr val="214466"/>
                </a:solidFill>
                <a:latin typeface="Trebuchet MS"/>
                <a:cs typeface="Trebuchet MS"/>
              </a:rPr>
              <a:t>Ð</a:t>
            </a:r>
            <a:r>
              <a:rPr dirty="0" sz="3750" spc="-175" b="1">
                <a:solidFill>
                  <a:srgbClr val="214466"/>
                </a:solidFill>
                <a:latin typeface="Arial"/>
                <a:cs typeface="Arial"/>
              </a:rPr>
              <a:t>á</a:t>
            </a:r>
            <a:r>
              <a:rPr dirty="0" sz="3650" spc="-175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750" spc="-175" b="1">
                <a:solidFill>
                  <a:srgbClr val="214466"/>
                </a:solidFill>
                <a:latin typeface="Arial"/>
                <a:cs typeface="Arial"/>
              </a:rPr>
              <a:t>h</a:t>
            </a:r>
            <a:r>
              <a:rPr dirty="0" sz="3750" spc="-27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40" b="1">
                <a:solidFill>
                  <a:srgbClr val="214466"/>
                </a:solidFill>
                <a:latin typeface="Trebuchet MS"/>
                <a:cs typeface="Trebuchet MS"/>
              </a:rPr>
              <a:t>G</a:t>
            </a:r>
            <a:r>
              <a:rPr dirty="0" sz="3750" spc="-140" b="1">
                <a:solidFill>
                  <a:srgbClr val="214466"/>
                </a:solidFill>
                <a:latin typeface="Arial"/>
                <a:cs typeface="Arial"/>
              </a:rPr>
              <a:t>iá</a:t>
            </a:r>
            <a:r>
              <a:rPr dirty="0" sz="3750" spc="-27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250" b="1">
                <a:solidFill>
                  <a:srgbClr val="214466"/>
                </a:solidFill>
                <a:latin typeface="Arial"/>
                <a:cs typeface="Arial"/>
              </a:rPr>
              <a:t>v</a:t>
            </a:r>
            <a:r>
              <a:rPr dirty="0" sz="3750" spc="-250" b="1">
                <a:solidFill>
                  <a:srgbClr val="214466"/>
                </a:solidFill>
                <a:latin typeface="Arial"/>
                <a:cs typeface="Arial"/>
              </a:rPr>
              <a:t>à</a:t>
            </a:r>
            <a:r>
              <a:rPr dirty="0" sz="3750" spc="-27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20" b="1">
                <a:solidFill>
                  <a:srgbClr val="214466"/>
                </a:solidFill>
                <a:latin typeface="Trebuchet MS"/>
                <a:cs typeface="Trebuchet MS"/>
              </a:rPr>
              <a:t>P</a:t>
            </a:r>
            <a:r>
              <a:rPr dirty="0" sz="3750" spc="-220" b="1">
                <a:solidFill>
                  <a:srgbClr val="214466"/>
                </a:solidFill>
                <a:latin typeface="Arial"/>
                <a:cs typeface="Arial"/>
              </a:rPr>
              <a:t>hả</a:t>
            </a:r>
            <a:r>
              <a:rPr dirty="0" sz="3650" spc="-22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00" b="1">
                <a:solidFill>
                  <a:srgbClr val="214466"/>
                </a:solidFill>
                <a:latin typeface="Trebuchet MS"/>
                <a:cs typeface="Trebuchet MS"/>
              </a:rPr>
              <a:t>H</a:t>
            </a:r>
            <a:r>
              <a:rPr dirty="0" sz="3650" spc="-100" b="1">
                <a:solidFill>
                  <a:srgbClr val="214466"/>
                </a:solidFill>
                <a:latin typeface="Arial"/>
                <a:cs typeface="Arial"/>
              </a:rPr>
              <a:t>ồ</a:t>
            </a:r>
            <a:r>
              <a:rPr dirty="0" sz="3750" spc="-100" b="1">
                <a:solidFill>
                  <a:srgbClr val="214466"/>
                </a:solidFill>
                <a:latin typeface="Arial"/>
                <a:cs typeface="Arial"/>
              </a:rPr>
              <a:t>i</a:t>
            </a:r>
            <a:endParaRPr sz="37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093240"/>
            <a:ext cx="3945254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250">
                <a:solidFill>
                  <a:srgbClr val="1F2328"/>
                </a:solidFill>
              </a:rPr>
              <a:t>N</a:t>
            </a:r>
            <a:r>
              <a:rPr dirty="0" sz="3050" spc="-250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00" spc="-250">
                <a:solidFill>
                  <a:srgbClr val="1F2328"/>
                </a:solidFill>
                <a:latin typeface="Arial"/>
                <a:cs typeface="Arial"/>
              </a:rPr>
              <a:t>ữn</a:t>
            </a:r>
            <a:r>
              <a:rPr dirty="0" sz="3050" spc="-250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85">
                <a:solidFill>
                  <a:srgbClr val="1F2328"/>
                </a:solidFill>
              </a:rPr>
              <a:t>G</a:t>
            </a:r>
            <a:r>
              <a:rPr dirty="0" sz="3050" spc="-85">
                <a:solidFill>
                  <a:srgbClr val="1F2328"/>
                </a:solidFill>
                <a:latin typeface="Arial"/>
                <a:cs typeface="Arial"/>
              </a:rPr>
              <a:t>ì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5">
                <a:solidFill>
                  <a:srgbClr val="1F2328"/>
                </a:solidFill>
              </a:rPr>
              <a:t>H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ạ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60">
                <a:solidFill>
                  <a:srgbClr val="1F2328"/>
                </a:solidFill>
              </a:rPr>
              <a:t>Ð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ộn</a:t>
            </a:r>
            <a:r>
              <a:rPr dirty="0" sz="3050" spc="-160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5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60">
                <a:solidFill>
                  <a:srgbClr val="1F2328"/>
                </a:solidFill>
              </a:rPr>
              <a:t>T</a:t>
            </a:r>
            <a:r>
              <a:rPr dirty="0" sz="3000" spc="-160">
                <a:solidFill>
                  <a:srgbClr val="1F2328"/>
                </a:solidFill>
                <a:latin typeface="Arial"/>
                <a:cs typeface="Arial"/>
              </a:rPr>
              <a:t>ốt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02895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714239"/>
            <a:ext cx="6523355" cy="1968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600"/>
              </a:lnSpc>
              <a:spcBef>
                <a:spcPts val="100"/>
              </a:spcBef>
            </a:pP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oly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lot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105" b="1">
                <a:solidFill>
                  <a:srgbClr val="1F2328"/>
                </a:solidFill>
                <a:latin typeface="Arial"/>
                <a:cs typeface="Arial"/>
              </a:rPr>
              <a:t>tr</a:t>
            </a:r>
            <a:r>
              <a:rPr dirty="0" sz="2350" spc="-105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105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05" b="1">
                <a:solidFill>
                  <a:srgbClr val="1F2328"/>
                </a:solidFill>
                <a:latin typeface="Arial"/>
                <a:cs typeface="Arial"/>
              </a:rPr>
              <a:t>eg</a:t>
            </a:r>
            <a:r>
              <a:rPr dirty="0" sz="2300" spc="-105" b="1">
                <a:solidFill>
                  <a:srgbClr val="1F2328"/>
                </a:solidFill>
                <a:latin typeface="Arial"/>
                <a:cs typeface="Arial"/>
              </a:rPr>
              <a:t>y</a:t>
            </a:r>
            <a:r>
              <a:rPr dirty="0" sz="2300" spc="-10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úng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ngôn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90">
                <a:solidFill>
                  <a:srgbClr val="1F2328"/>
                </a:solidFill>
                <a:latin typeface="Arial"/>
                <a:cs typeface="Arial"/>
              </a:rPr>
              <a:t>ngữ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đúng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công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việc </a:t>
            </a:r>
            <a:r>
              <a:rPr dirty="0" sz="2300" spc="-90" b="1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90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2350" spc="-90" b="1">
                <a:solidFill>
                  <a:srgbClr val="1F2328"/>
                </a:solidFill>
                <a:latin typeface="Arial"/>
                <a:cs typeface="Arial"/>
              </a:rPr>
              <a:t>ea</a:t>
            </a:r>
            <a:r>
              <a:rPr dirty="0" sz="2300" spc="-9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chi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ec</a:t>
            </a:r>
            <a:r>
              <a:rPr dirty="0" sz="2300" spc="-140" b="1">
                <a:solidFill>
                  <a:srgbClr val="1F2328"/>
                </a:solidFill>
                <a:latin typeface="Arial"/>
                <a:cs typeface="Arial"/>
              </a:rPr>
              <a:t>tur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4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ode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dễ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test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maintain</a:t>
            </a:r>
            <a:endParaRPr sz="2300">
              <a:latin typeface="Arial"/>
              <a:cs typeface="Arial"/>
            </a:endParaRPr>
          </a:p>
          <a:p>
            <a:pPr marL="12700" marR="722630">
              <a:lnSpc>
                <a:spcPct val="135600"/>
              </a:lnSpc>
            </a:pPr>
            <a:r>
              <a:rPr dirty="0" sz="2300" spc="-80" b="1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80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8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80" b="1">
                <a:solidFill>
                  <a:srgbClr val="1F2328"/>
                </a:solidFill>
                <a:latin typeface="Arial"/>
                <a:cs typeface="Arial"/>
              </a:rPr>
              <a:t>nt</a:t>
            </a:r>
            <a:r>
              <a:rPr dirty="0" sz="2300" spc="-80" b="1">
                <a:solidFill>
                  <a:srgbClr val="1F2328"/>
                </a:solidFill>
                <a:latin typeface="Trebuchet MS"/>
                <a:cs typeface="Trebuchet MS"/>
              </a:rPr>
              <a:t>-</a:t>
            </a:r>
            <a:r>
              <a:rPr dirty="0" sz="2300" spc="-160" b="1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16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6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6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R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abbit</a:t>
            </a:r>
            <a:r>
              <a:rPr dirty="0" sz="2300" spc="-20">
                <a:solidFill>
                  <a:srgbClr val="1F2328"/>
                </a:solidFill>
                <a:latin typeface="Trebuchet MS"/>
                <a:cs typeface="Trebuchet MS"/>
              </a:rPr>
              <a:t>MQ</a:t>
            </a:r>
            <a:r>
              <a:rPr dirty="0" sz="2300" spc="-14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giảm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coupling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hiệu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quả </a:t>
            </a:r>
            <a:r>
              <a:rPr dirty="0" sz="2300" spc="-85" b="1">
                <a:solidFill>
                  <a:srgbClr val="1F2328"/>
                </a:solidFill>
                <a:latin typeface="Trebuchet MS"/>
                <a:cs typeface="Trebuchet MS"/>
              </a:rPr>
              <a:t>D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aba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85" b="1">
                <a:solidFill>
                  <a:srgbClr val="1F2328"/>
                </a:solidFill>
                <a:latin typeface="Trebuchet MS"/>
                <a:cs typeface="Trebuchet MS"/>
              </a:rPr>
              <a:t>-</a:t>
            </a:r>
            <a:r>
              <a:rPr dirty="0" sz="2300" spc="-75" b="1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2350" spc="-7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7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00" spc="-75" b="1">
                <a:solidFill>
                  <a:srgbClr val="1F2328"/>
                </a:solidFill>
                <a:latin typeface="Trebuchet MS"/>
                <a:cs typeface="Trebuchet MS"/>
              </a:rPr>
              <a:t>-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25" b="1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2350" spc="-125" b="1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2300" spc="-125" b="1">
                <a:solidFill>
                  <a:srgbClr val="1F2328"/>
                </a:solidFill>
                <a:latin typeface="Trebuchet MS"/>
                <a:cs typeface="Trebuchet MS"/>
              </a:rPr>
              <a:t>: </a:t>
            </a:r>
            <a:r>
              <a:rPr dirty="0" sz="2300" spc="-16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ránh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tight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coupling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514725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4862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012" y="2331365"/>
            <a:ext cx="3470275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204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3050" spc="-204" b="1">
                <a:solidFill>
                  <a:srgbClr val="1F2328"/>
                </a:solidFill>
                <a:latin typeface="Arial"/>
                <a:cs typeface="Arial"/>
              </a:rPr>
              <a:t>hách </a:t>
            </a:r>
            <a:r>
              <a:rPr dirty="0" sz="3000" spc="-290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3050" spc="-290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00" spc="-290" b="1">
                <a:solidFill>
                  <a:srgbClr val="1F2328"/>
                </a:solidFill>
                <a:latin typeface="Arial"/>
                <a:cs typeface="Arial"/>
              </a:rPr>
              <a:t>ứ</a:t>
            </a:r>
            <a:r>
              <a:rPr dirty="0" sz="3050" spc="-290" b="1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50" spc="-204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5" b="1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3050" spc="-125" b="1">
                <a:solidFill>
                  <a:srgbClr val="1F2328"/>
                </a:solidFill>
                <a:latin typeface="Arial"/>
                <a:cs typeface="Arial"/>
              </a:rPr>
              <a:t>ặ</a:t>
            </a:r>
            <a:r>
              <a:rPr dirty="0" sz="3000" spc="-125" b="1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3000" spc="-19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5" b="1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3050" spc="-125" b="1">
                <a:solidFill>
                  <a:srgbClr val="1F2328"/>
                </a:solidFill>
                <a:latin typeface="Arial"/>
                <a:cs typeface="Arial"/>
              </a:rPr>
              <a:t>hải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1414"/>
            <a:ext cx="5945505" cy="146367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60"/>
              </a:spcBef>
            </a:pP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ompl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x</a:t>
            </a:r>
            <a:r>
              <a:rPr dirty="0" sz="2350" spc="-13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35" b="1">
                <a:solidFill>
                  <a:srgbClr val="1F2328"/>
                </a:solidFill>
                <a:latin typeface="Arial"/>
                <a:cs typeface="Arial"/>
              </a:rPr>
              <a:t>ty</a:t>
            </a:r>
            <a:r>
              <a:rPr dirty="0" sz="2300" spc="-13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4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icroservices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phức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tạp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90">
                <a:solidFill>
                  <a:srgbClr val="1F2328"/>
                </a:solidFill>
                <a:latin typeface="Arial"/>
                <a:cs typeface="Arial"/>
              </a:rPr>
              <a:t>hơn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monolith </a:t>
            </a:r>
            <a:r>
              <a:rPr dirty="0" sz="2300" spc="-190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50" spc="-190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90" b="1">
                <a:solidFill>
                  <a:srgbClr val="1F2328"/>
                </a:solidFill>
                <a:latin typeface="Arial"/>
                <a:cs typeface="Arial"/>
              </a:rPr>
              <a:t>st</a:t>
            </a:r>
            <a:r>
              <a:rPr dirty="0" sz="2350" spc="-190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9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190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00" spc="-19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I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ntegration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testing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cần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estcontainers </a:t>
            </a:r>
            <a:r>
              <a:rPr dirty="0" sz="2300" spc="-130" b="1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oly</a:t>
            </a:r>
            <a:r>
              <a:rPr dirty="0" sz="2350" spc="-130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lot</a:t>
            </a:r>
            <a:r>
              <a:rPr dirty="0" sz="2300" spc="-12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O</a:t>
            </a:r>
            <a:r>
              <a:rPr dirty="0" sz="2300" spc="-155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155" b="1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2300" spc="-155" b="1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2350" spc="-155" b="1">
                <a:solidFill>
                  <a:srgbClr val="1F2328"/>
                </a:solidFill>
                <a:latin typeface="Arial"/>
                <a:cs typeface="Arial"/>
              </a:rPr>
              <a:t>head</a:t>
            </a:r>
            <a:r>
              <a:rPr dirty="0" sz="2300" spc="-15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ần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expertise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cả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Trebuchet MS"/>
                <a:cs typeface="Trebuchet MS"/>
              </a:rPr>
              <a:t>J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ava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và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o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610616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385" b="1">
                <a:solidFill>
                  <a:srgbClr val="214466"/>
                </a:solidFill>
                <a:latin typeface="Trebuchet MS"/>
                <a:cs typeface="Trebuchet MS"/>
              </a:rPr>
              <a:t>13.</a:t>
            </a:r>
            <a:r>
              <a:rPr dirty="0" sz="3700" spc="-550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380" b="1">
                <a:solidFill>
                  <a:srgbClr val="214466"/>
                </a:solidFill>
                <a:latin typeface="Trebuchet MS"/>
                <a:cs typeface="Trebuchet MS"/>
              </a:rPr>
              <a:t>H</a:t>
            </a:r>
            <a:r>
              <a:rPr dirty="0" sz="3650" spc="-380" b="1">
                <a:solidFill>
                  <a:srgbClr val="214466"/>
                </a:solidFill>
                <a:latin typeface="Arial"/>
                <a:cs typeface="Arial"/>
              </a:rPr>
              <a:t>ướn</a:t>
            </a:r>
            <a:r>
              <a:rPr dirty="0" sz="3750" spc="-380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r>
              <a:rPr dirty="0" sz="3750" spc="-28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60" b="1">
                <a:solidFill>
                  <a:srgbClr val="214466"/>
                </a:solidFill>
                <a:latin typeface="Trebuchet MS"/>
                <a:cs typeface="Trebuchet MS"/>
              </a:rPr>
              <a:t>P</a:t>
            </a:r>
            <a:r>
              <a:rPr dirty="0" sz="3750" spc="-160" b="1">
                <a:solidFill>
                  <a:srgbClr val="214466"/>
                </a:solidFill>
                <a:latin typeface="Arial"/>
                <a:cs typeface="Arial"/>
              </a:rPr>
              <a:t>há</a:t>
            </a:r>
            <a:r>
              <a:rPr dirty="0" sz="3650" spc="-160" b="1">
                <a:solidFill>
                  <a:srgbClr val="214466"/>
                </a:solidFill>
                <a:latin typeface="Arial"/>
                <a:cs typeface="Arial"/>
              </a:rPr>
              <a:t>t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254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r</a:t>
            </a:r>
            <a:r>
              <a:rPr dirty="0" sz="3750" spc="-254" b="1">
                <a:solidFill>
                  <a:srgbClr val="214466"/>
                </a:solidFill>
                <a:latin typeface="Arial"/>
                <a:cs typeface="Arial"/>
              </a:rPr>
              <a:t>iể</a:t>
            </a:r>
            <a:r>
              <a:rPr dirty="0" sz="3650" spc="-254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650" spc="-445" b="1">
                <a:solidFill>
                  <a:srgbClr val="214466"/>
                </a:solidFill>
                <a:latin typeface="Bodoni MT"/>
                <a:cs typeface="Bodoni MT"/>
              </a:rPr>
              <a:t>T</a:t>
            </a:r>
            <a:r>
              <a:rPr dirty="0" sz="3650" spc="-445" b="1">
                <a:solidFill>
                  <a:srgbClr val="214466"/>
                </a:solidFill>
                <a:latin typeface="Arial"/>
                <a:cs typeface="Arial"/>
              </a:rPr>
              <a:t>ươn</a:t>
            </a:r>
            <a:r>
              <a:rPr dirty="0" sz="3750" spc="-445" b="1">
                <a:solidFill>
                  <a:srgbClr val="214466"/>
                </a:solidFill>
                <a:latin typeface="Arial"/>
                <a:cs typeface="Arial"/>
              </a:rPr>
              <a:t>g</a:t>
            </a:r>
            <a:r>
              <a:rPr dirty="0" sz="3750" spc="-28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90" b="1">
                <a:solidFill>
                  <a:srgbClr val="214466"/>
                </a:solidFill>
                <a:latin typeface="Trebuchet MS"/>
                <a:cs typeface="Trebuchet MS"/>
              </a:rPr>
              <a:t>L</a:t>
            </a:r>
            <a:r>
              <a:rPr dirty="0" sz="3750" spc="-90" b="1">
                <a:solidFill>
                  <a:srgbClr val="214466"/>
                </a:solidFill>
                <a:latin typeface="Arial"/>
                <a:cs typeface="Arial"/>
              </a:rPr>
              <a:t>ai</a:t>
            </a:r>
            <a:endParaRPr sz="37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2331365"/>
            <a:ext cx="2856230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40">
                <a:solidFill>
                  <a:srgbClr val="1F2328"/>
                </a:solidFill>
              </a:rPr>
              <a:t>S</a:t>
            </a:r>
            <a:r>
              <a:rPr dirty="0" sz="3050" spc="-140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3050" spc="-140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3000" spc="-140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35">
                <a:solidFill>
                  <a:srgbClr val="1F2328"/>
                </a:solidFill>
              </a:rPr>
              <a:t>B</a:t>
            </a:r>
            <a:r>
              <a:rPr dirty="0" sz="3000" spc="-135">
                <a:solidFill>
                  <a:srgbClr val="1F2328"/>
                </a:solidFill>
                <a:latin typeface="Arial"/>
                <a:cs typeface="Arial"/>
              </a:rPr>
              <a:t>ổ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75">
                <a:solidFill>
                  <a:srgbClr val="1F2328"/>
                </a:solidFill>
              </a:rPr>
              <a:t>S</a:t>
            </a:r>
            <a:r>
              <a:rPr dirty="0" sz="3000" spc="-75">
                <a:solidFill>
                  <a:srgbClr val="1F2328"/>
                </a:solidFill>
                <a:latin typeface="Arial"/>
                <a:cs typeface="Arial"/>
              </a:rPr>
              <a:t>un</a:t>
            </a:r>
            <a:r>
              <a:rPr dirty="0" sz="3050" spc="-75">
                <a:solidFill>
                  <a:srgbClr val="1F2328"/>
                </a:solidFill>
                <a:latin typeface="Arial"/>
                <a:cs typeface="Arial"/>
              </a:rPr>
              <a:t>g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970794"/>
            <a:ext cx="5582920" cy="14636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5900"/>
              </a:lnSpc>
              <a:spcBef>
                <a:spcPts val="90"/>
              </a:spcBef>
            </a:pP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U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ser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anagement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ervice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với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35">
                <a:solidFill>
                  <a:srgbClr val="1F2328"/>
                </a:solidFill>
                <a:latin typeface="Trebuchet MS"/>
                <a:cs typeface="Trebuchet MS"/>
              </a:rPr>
              <a:t>OA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uth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35">
                <a:solidFill>
                  <a:srgbClr val="1F2328"/>
                </a:solidFill>
                <a:latin typeface="Gill Sans MT"/>
                <a:cs typeface="Gill Sans MT"/>
              </a:rPr>
              <a:t>2.0/</a:t>
            </a:r>
            <a:r>
              <a:rPr dirty="0" sz="2300" spc="35">
                <a:solidFill>
                  <a:srgbClr val="1F2328"/>
                </a:solidFill>
                <a:latin typeface="Trebuchet MS"/>
                <a:cs typeface="Trebuchet MS"/>
              </a:rPr>
              <a:t>OIDC </a:t>
            </a: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uth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ervice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80">
                <a:solidFill>
                  <a:srgbClr val="1F2328"/>
                </a:solidFill>
                <a:latin typeface="Arial"/>
                <a:cs typeface="Arial"/>
              </a:rPr>
              <a:t>với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Trebuchet MS"/>
                <a:cs typeface="Trebuchet MS"/>
              </a:rPr>
              <a:t>JWT</a:t>
            </a:r>
            <a:r>
              <a:rPr dirty="0" sz="2300" spc="-175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validation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300" spc="-45">
                <a:solidFill>
                  <a:srgbClr val="1F2328"/>
                </a:solidFill>
                <a:latin typeface="Trebuchet MS"/>
                <a:cs typeface="Trebuchet MS"/>
              </a:rPr>
              <a:t>API</a:t>
            </a:r>
            <a:r>
              <a:rPr dirty="0" sz="2300" spc="-170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G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ateway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cho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5">
                <a:solidFill>
                  <a:srgbClr val="1F2328"/>
                </a:solidFill>
                <a:latin typeface="Arial"/>
                <a:cs typeface="Arial"/>
              </a:rPr>
              <a:t>centralized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routing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7268" y="2335060"/>
            <a:ext cx="5304730" cy="22241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3102890"/>
            <a:ext cx="157289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80">
                <a:solidFill>
                  <a:srgbClr val="1F2328"/>
                </a:solidFill>
              </a:rPr>
              <a:t>R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80">
                <a:solidFill>
                  <a:srgbClr val="1F2328"/>
                </a:solidFill>
                <a:latin typeface="Arial"/>
                <a:cs typeface="Arial"/>
              </a:rPr>
              <a:t>ad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m</a:t>
            </a:r>
            <a:r>
              <a:rPr dirty="0" sz="3050" spc="-18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80">
                <a:solidFill>
                  <a:srgbClr val="1F2328"/>
                </a:solidFill>
                <a:latin typeface="Arial"/>
                <a:cs typeface="Arial"/>
              </a:rPr>
              <a:t>p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558165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350" b="1">
                <a:solidFill>
                  <a:srgbClr val="214466"/>
                </a:solidFill>
                <a:latin typeface="Trebuchet MS"/>
                <a:cs typeface="Trebuchet MS"/>
              </a:rPr>
              <a:t>14.</a:t>
            </a:r>
            <a:r>
              <a:rPr dirty="0" sz="3700" spc="-550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190" b="1">
                <a:solidFill>
                  <a:srgbClr val="214466"/>
                </a:solidFill>
                <a:latin typeface="Trebuchet MS"/>
                <a:cs typeface="Trebuchet MS"/>
              </a:rPr>
              <a:t>D</a:t>
            </a:r>
            <a:r>
              <a:rPr dirty="0" sz="3750" spc="-190" b="1">
                <a:solidFill>
                  <a:srgbClr val="214466"/>
                </a:solidFill>
                <a:latin typeface="Arial"/>
                <a:cs typeface="Arial"/>
              </a:rPr>
              <a:t>e</a:t>
            </a:r>
            <a:r>
              <a:rPr dirty="0" sz="3650" spc="-190" b="1">
                <a:solidFill>
                  <a:srgbClr val="214466"/>
                </a:solidFill>
                <a:latin typeface="Arial"/>
                <a:cs typeface="Arial"/>
              </a:rPr>
              <a:t>mo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45" b="1">
                <a:solidFill>
                  <a:srgbClr val="214466"/>
                </a:solidFill>
                <a:latin typeface="Trebuchet MS"/>
                <a:cs typeface="Trebuchet MS"/>
              </a:rPr>
              <a:t>&amp;</a:t>
            </a:r>
            <a:r>
              <a:rPr dirty="0" sz="3700" spc="-345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135" b="1">
                <a:solidFill>
                  <a:srgbClr val="214466"/>
                </a:solidFill>
                <a:latin typeface="Trebuchet MS"/>
                <a:cs typeface="Trebuchet MS"/>
              </a:rPr>
              <a:t>C</a:t>
            </a:r>
            <a:r>
              <a:rPr dirty="0" sz="3650" spc="-135" b="1">
                <a:solidFill>
                  <a:srgbClr val="214466"/>
                </a:solidFill>
                <a:latin typeface="Arial"/>
                <a:cs typeface="Arial"/>
              </a:rPr>
              <a:t>o</a:t>
            </a:r>
            <a:r>
              <a:rPr dirty="0" sz="3750" spc="-135" b="1">
                <a:solidFill>
                  <a:srgbClr val="214466"/>
                </a:solidFill>
                <a:latin typeface="Arial"/>
                <a:cs typeface="Arial"/>
              </a:rPr>
              <a:t>de</a:t>
            </a:r>
            <a:r>
              <a:rPr dirty="0" sz="3750" spc="-280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145" b="1">
                <a:solidFill>
                  <a:srgbClr val="214466"/>
                </a:solidFill>
                <a:latin typeface="Trebuchet MS"/>
                <a:cs typeface="Trebuchet MS"/>
              </a:rPr>
              <a:t>S</a:t>
            </a:r>
            <a:r>
              <a:rPr dirty="0" sz="3750" spc="-145" b="1">
                <a:solidFill>
                  <a:srgbClr val="214466"/>
                </a:solidFill>
                <a:latin typeface="Arial"/>
                <a:cs typeface="Arial"/>
              </a:rPr>
              <a:t>h</a:t>
            </a:r>
            <a:r>
              <a:rPr dirty="0" sz="3650" spc="-145" b="1">
                <a:solidFill>
                  <a:srgbClr val="214466"/>
                </a:solidFill>
                <a:latin typeface="Arial"/>
                <a:cs typeface="Arial"/>
              </a:rPr>
              <a:t>ow</a:t>
            </a:r>
            <a:r>
              <a:rPr dirty="0" sz="3750" spc="-145" b="1">
                <a:solidFill>
                  <a:srgbClr val="214466"/>
                </a:solidFill>
                <a:latin typeface="Arial"/>
                <a:cs typeface="Arial"/>
              </a:rPr>
              <a:t>ca</a:t>
            </a:r>
            <a:r>
              <a:rPr dirty="0" sz="3650" spc="-145" b="1">
                <a:solidFill>
                  <a:srgbClr val="214466"/>
                </a:solidFill>
                <a:latin typeface="Arial"/>
                <a:cs typeface="Arial"/>
              </a:rPr>
              <a:t>s</a:t>
            </a:r>
            <a:r>
              <a:rPr dirty="0" sz="3750" spc="-145" b="1">
                <a:solidFill>
                  <a:srgbClr val="214466"/>
                </a:solidFill>
                <a:latin typeface="Arial"/>
                <a:cs typeface="Arial"/>
              </a:rPr>
              <a:t>e</a:t>
            </a:r>
            <a:endParaRPr sz="37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1142954"/>
            <a:ext cx="7924799" cy="46672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474115"/>
            <a:ext cx="2073910" cy="1388745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340"/>
              </a:spcBef>
            </a:pPr>
            <a:r>
              <a:rPr dirty="0" sz="3000" spc="-150">
                <a:solidFill>
                  <a:srgbClr val="1F2328"/>
                </a:solidFill>
              </a:rPr>
              <a:t>G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ia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45">
                <a:solidFill>
                  <a:srgbClr val="1F2328"/>
                </a:solidFill>
              </a:rPr>
              <a:t>D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iệ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170">
                <a:solidFill>
                  <a:srgbClr val="1F2328"/>
                </a:solidFill>
                <a:latin typeface="Gill Sans MT"/>
                <a:cs typeface="Gill Sans MT"/>
              </a:rPr>
              <a:t>- </a:t>
            </a:r>
            <a:r>
              <a:rPr dirty="0" sz="3000" spc="-254">
                <a:solidFill>
                  <a:srgbClr val="1F2328"/>
                </a:solidFill>
              </a:rPr>
              <a:t>T</a:t>
            </a:r>
            <a:r>
              <a:rPr dirty="0" sz="3000" spc="-254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254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254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254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5">
                <a:solidFill>
                  <a:srgbClr val="1F2328"/>
                </a:solidFill>
              </a:rPr>
              <a:t>C</a:t>
            </a:r>
            <a:r>
              <a:rPr dirty="0" sz="3050" spc="-25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3000" spc="-25">
                <a:solidFill>
                  <a:srgbClr val="1F2328"/>
                </a:solidFill>
                <a:latin typeface="Arial"/>
                <a:cs typeface="Arial"/>
              </a:rPr>
              <a:t>ủ </a:t>
            </a:r>
            <a:r>
              <a:rPr dirty="0" sz="3000" spc="-165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165">
                <a:solidFill>
                  <a:srgbClr val="1F2328"/>
                </a:solidFill>
              </a:rPr>
              <a:t>H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om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p</a:t>
            </a:r>
            <a:r>
              <a:rPr dirty="0" sz="3050" spc="-165">
                <a:solidFill>
                  <a:srgbClr val="1F2328"/>
                </a:solidFill>
                <a:latin typeface="Arial"/>
                <a:cs typeface="Arial"/>
              </a:rPr>
              <a:t>age</a:t>
            </a:r>
            <a:r>
              <a:rPr dirty="0" sz="3000" spc="-165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305175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3055775"/>
            <a:ext cx="1961514" cy="2244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34645">
              <a:lnSpc>
                <a:spcPct val="119600"/>
              </a:lnSpc>
              <a:spcBef>
                <a:spcPts val="95"/>
              </a:spcBef>
            </a:pPr>
            <a:r>
              <a:rPr dirty="0" sz="2300" spc="-14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45">
                <a:solidFill>
                  <a:srgbClr val="1F2328"/>
                </a:solidFill>
                <a:latin typeface="Arial"/>
                <a:cs typeface="Arial"/>
              </a:rPr>
              <a:t>ổng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quan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hệ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thống</a:t>
            </a:r>
            <a:endParaRPr sz="2300">
              <a:latin typeface="Arial"/>
              <a:cs typeface="Arial"/>
            </a:endParaRPr>
          </a:p>
          <a:p>
            <a:pPr marL="12700" marR="213995">
              <a:lnSpc>
                <a:spcPct val="116799"/>
              </a:lnSpc>
              <a:spcBef>
                <a:spcPts val="605"/>
              </a:spcBef>
            </a:pP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Ð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iều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4">
                <a:solidFill>
                  <a:srgbClr val="1F2328"/>
                </a:solidFill>
                <a:latin typeface="Arial"/>
                <a:cs typeface="Arial"/>
              </a:rPr>
              <a:t>hướng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dễ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dàng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hiết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kế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hiện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đại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2100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5105400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58524"/>
            <a:ext cx="376999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3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5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5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g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2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1102871"/>
            <a:ext cx="7924799" cy="47073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483640"/>
            <a:ext cx="1820545" cy="950594"/>
          </a:xfrm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280"/>
              </a:spcBef>
            </a:pPr>
            <a:r>
              <a:rPr dirty="0" sz="3000" spc="-150">
                <a:solidFill>
                  <a:srgbClr val="1F2328"/>
                </a:solidFill>
              </a:rPr>
              <a:t>G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ia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45">
                <a:solidFill>
                  <a:srgbClr val="1F2328"/>
                </a:solidFill>
              </a:rPr>
              <a:t>D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iệ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170">
                <a:solidFill>
                  <a:srgbClr val="1F2328"/>
                </a:solidFill>
                <a:latin typeface="Gill Sans MT"/>
                <a:cs typeface="Gill Sans MT"/>
              </a:rPr>
              <a:t>- </a:t>
            </a:r>
            <a:r>
              <a:rPr dirty="0" sz="3000" spc="-170">
                <a:solidFill>
                  <a:srgbClr val="1F2328"/>
                </a:solidFill>
              </a:rPr>
              <a:t>D</a:t>
            </a:r>
            <a:r>
              <a:rPr dirty="0" sz="3050" spc="-17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70">
                <a:solidFill>
                  <a:srgbClr val="1F2328"/>
                </a:solidFill>
                <a:latin typeface="Arial"/>
                <a:cs typeface="Arial"/>
              </a:rPr>
              <a:t>s</a:t>
            </a:r>
            <a:r>
              <a:rPr dirty="0" sz="3050" spc="-170">
                <a:solidFill>
                  <a:srgbClr val="1F2328"/>
                </a:solidFill>
                <a:latin typeface="Arial"/>
                <a:cs typeface="Arial"/>
              </a:rPr>
              <a:t>hb</a:t>
            </a:r>
            <a:r>
              <a:rPr dirty="0" sz="3000" spc="-17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7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70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70">
                <a:solidFill>
                  <a:srgbClr val="1F2328"/>
                </a:solidFill>
                <a:latin typeface="Arial"/>
                <a:cs typeface="Arial"/>
              </a:rPr>
              <a:t>d</a:t>
            </a:r>
            <a:endParaRPr sz="305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28765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627150"/>
            <a:ext cx="2005330" cy="2654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95"/>
              </a:spcBef>
            </a:pPr>
            <a:r>
              <a:rPr dirty="0" sz="2300" spc="-10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hống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kê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tiến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độ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học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tập</a:t>
            </a:r>
            <a:endParaRPr sz="2300">
              <a:latin typeface="Arial"/>
              <a:cs typeface="Arial"/>
            </a:endParaRPr>
          </a:p>
          <a:p>
            <a:pPr marL="12700" marR="66675">
              <a:lnSpc>
                <a:spcPct val="119600"/>
              </a:lnSpc>
              <a:spcBef>
                <a:spcPts val="450"/>
              </a:spcBef>
            </a:pP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B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iểu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đồ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50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50">
                <a:solidFill>
                  <a:srgbClr val="1F2328"/>
                </a:solidFill>
                <a:latin typeface="Arial"/>
                <a:cs typeface="Arial"/>
              </a:rPr>
              <a:t>astery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cá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nhân</a:t>
            </a:r>
            <a:endParaRPr sz="2300">
              <a:latin typeface="Arial"/>
              <a:cs typeface="Arial"/>
            </a:endParaRPr>
          </a:p>
          <a:p>
            <a:pPr marL="12700" marR="354965">
              <a:lnSpc>
                <a:spcPct val="116799"/>
              </a:lnSpc>
              <a:spcBef>
                <a:spcPts val="600"/>
              </a:spcBef>
            </a:pPr>
            <a:r>
              <a:rPr dirty="0" sz="2300" spc="-11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heo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dõi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hoạt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động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gần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đây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7719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676775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58524"/>
            <a:ext cx="376999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3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5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5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g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2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1066800"/>
            <a:ext cx="7924799" cy="4724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012" y="1264565"/>
            <a:ext cx="2405380" cy="1388745"/>
          </a:xfrm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algn="just" marL="12700" marR="5080">
              <a:lnSpc>
                <a:spcPts val="3529"/>
              </a:lnSpc>
              <a:spcBef>
                <a:spcPts val="340"/>
              </a:spcBef>
            </a:pPr>
            <a:r>
              <a:rPr dirty="0" sz="3000" spc="-195">
                <a:solidFill>
                  <a:srgbClr val="1F2328"/>
                </a:solidFill>
              </a:rPr>
              <a:t>G</a:t>
            </a:r>
            <a:r>
              <a:rPr dirty="0" sz="3050" spc="-195">
                <a:solidFill>
                  <a:srgbClr val="1F2328"/>
                </a:solidFill>
                <a:latin typeface="Arial"/>
                <a:cs typeface="Arial"/>
              </a:rPr>
              <a:t>ia</a:t>
            </a:r>
            <a:r>
              <a:rPr dirty="0" sz="3000" spc="-19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00" spc="-1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90">
                <a:solidFill>
                  <a:srgbClr val="1F2328"/>
                </a:solidFill>
              </a:rPr>
              <a:t>D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iệ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00" spc="-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21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18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10">
                <a:solidFill>
                  <a:srgbClr val="1F2328"/>
                </a:solidFill>
              </a:rPr>
              <a:t>B</a:t>
            </a:r>
            <a:r>
              <a:rPr dirty="0" sz="3050" spc="-110">
                <a:solidFill>
                  <a:srgbClr val="1F2328"/>
                </a:solidFill>
                <a:latin typeface="Arial"/>
                <a:cs typeface="Arial"/>
              </a:rPr>
              <a:t>ài </a:t>
            </a:r>
            <a:r>
              <a:rPr dirty="0" sz="3000" spc="-229">
                <a:solidFill>
                  <a:srgbClr val="1F2328"/>
                </a:solidFill>
              </a:rPr>
              <a:t>H</a:t>
            </a:r>
            <a:r>
              <a:rPr dirty="0" sz="3000" spc="-229">
                <a:solidFill>
                  <a:srgbClr val="1F2328"/>
                </a:solidFill>
                <a:latin typeface="Arial"/>
                <a:cs typeface="Arial"/>
              </a:rPr>
              <a:t>ọ</a:t>
            </a:r>
            <a:r>
              <a:rPr dirty="0" sz="3050" spc="-229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50" spc="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100">
                <a:solidFill>
                  <a:srgbClr val="1F2328"/>
                </a:solidFill>
              </a:rPr>
              <a:t>L</a:t>
            </a:r>
            <a:r>
              <a:rPr dirty="0" sz="3050" spc="-100">
                <a:solidFill>
                  <a:srgbClr val="1F2328"/>
                </a:solidFill>
                <a:latin typeface="Arial"/>
                <a:cs typeface="Arial"/>
              </a:rPr>
              <a:t>ea</a:t>
            </a:r>
            <a:r>
              <a:rPr dirty="0" sz="3000" spc="-100">
                <a:solidFill>
                  <a:srgbClr val="1F2328"/>
                </a:solidFill>
                <a:latin typeface="Arial"/>
                <a:cs typeface="Arial"/>
              </a:rPr>
              <a:t>rn</a:t>
            </a:r>
            <a:r>
              <a:rPr dirty="0" sz="3050" spc="-10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0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00">
                <a:solidFill>
                  <a:srgbClr val="1F2328"/>
                </a:solidFill>
                <a:latin typeface="Arial"/>
                <a:cs typeface="Arial"/>
              </a:rPr>
              <a:t>g </a:t>
            </a:r>
            <a:r>
              <a:rPr dirty="0" sz="3000" spc="-10">
                <a:solidFill>
                  <a:srgbClr val="1F2328"/>
                </a:solidFill>
              </a:rPr>
              <a:t>P</a:t>
            </a:r>
            <a:r>
              <a:rPr dirty="0" sz="3050" spc="-10">
                <a:solidFill>
                  <a:srgbClr val="1F2328"/>
                </a:solidFill>
                <a:latin typeface="Arial"/>
                <a:cs typeface="Arial"/>
              </a:rPr>
              <a:t>age</a:t>
            </a:r>
            <a:r>
              <a:rPr dirty="0" sz="3000" spc="-1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3105150"/>
            <a:ext cx="85725" cy="8572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87462" y="2865275"/>
            <a:ext cx="2096135" cy="264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100"/>
              </a:spcBef>
            </a:pPr>
            <a:r>
              <a:rPr dirty="0" sz="2300" spc="-24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245">
                <a:solidFill>
                  <a:srgbClr val="1F2328"/>
                </a:solidFill>
                <a:latin typeface="Arial"/>
                <a:cs typeface="Arial"/>
              </a:rPr>
              <a:t>ương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tác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làm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0">
                <a:solidFill>
                  <a:srgbClr val="1F2328"/>
                </a:solidFill>
                <a:latin typeface="Arial"/>
                <a:cs typeface="Arial"/>
              </a:rPr>
              <a:t>bài 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trực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quan</a:t>
            </a:r>
            <a:endParaRPr sz="2300">
              <a:latin typeface="Arial"/>
              <a:cs typeface="Arial"/>
            </a:endParaRPr>
          </a:p>
          <a:p>
            <a:pPr marL="12700" marR="263525">
              <a:lnSpc>
                <a:spcPct val="116799"/>
              </a:lnSpc>
              <a:spcBef>
                <a:spcPts val="600"/>
              </a:spcBef>
            </a:pPr>
            <a:r>
              <a:rPr dirty="0" sz="2300" spc="-110">
                <a:solidFill>
                  <a:srgbClr val="1F2328"/>
                </a:solidFill>
                <a:latin typeface="Trebuchet MS"/>
                <a:cs typeface="Trebuchet MS"/>
              </a:rPr>
              <a:t>F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eedback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ngay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lập</a:t>
            </a:r>
            <a:r>
              <a:rPr dirty="0" sz="2300" spc="-13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tức</a:t>
            </a:r>
            <a:endParaRPr sz="2300">
              <a:latin typeface="Arial"/>
              <a:cs typeface="Arial"/>
            </a:endParaRPr>
          </a:p>
          <a:p>
            <a:pPr marL="12700" marR="323215">
              <a:lnSpc>
                <a:spcPct val="119600"/>
              </a:lnSpc>
              <a:spcBef>
                <a:spcPts val="525"/>
              </a:spcBef>
            </a:pP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H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ỗ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50">
                <a:solidFill>
                  <a:srgbClr val="1F2328"/>
                </a:solidFill>
                <a:latin typeface="Arial"/>
                <a:cs typeface="Arial"/>
              </a:rPr>
              <a:t>trợ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đa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dạng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loại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câu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5">
                <a:solidFill>
                  <a:srgbClr val="1F2328"/>
                </a:solidFill>
                <a:latin typeface="Arial"/>
                <a:cs typeface="Arial"/>
              </a:rPr>
              <a:t>hỏi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00050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4895850"/>
            <a:ext cx="85725" cy="8572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73050" y="158524"/>
            <a:ext cx="376999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3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5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5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7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g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2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2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012" y="1645565"/>
            <a:ext cx="644080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95">
                <a:solidFill>
                  <a:srgbClr val="1F2328"/>
                </a:solidFill>
              </a:rPr>
              <a:t>C</a:t>
            </a:r>
            <a:r>
              <a:rPr dirty="0" sz="3050" spc="-95">
                <a:solidFill>
                  <a:srgbClr val="1F2328"/>
                </a:solidFill>
                <a:latin typeface="Arial"/>
                <a:cs typeface="Arial"/>
              </a:rPr>
              <a:t>ấ</a:t>
            </a:r>
            <a:r>
              <a:rPr dirty="0" sz="3000" spc="-95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50">
                <a:solidFill>
                  <a:srgbClr val="1F2328"/>
                </a:solidFill>
              </a:rPr>
              <a:t>T</a:t>
            </a:r>
            <a:r>
              <a:rPr dirty="0" sz="3000" spc="-250">
                <a:solidFill>
                  <a:srgbClr val="1F2328"/>
                </a:solidFill>
                <a:latin typeface="Arial"/>
                <a:cs typeface="Arial"/>
              </a:rPr>
              <a:t>rú</a:t>
            </a:r>
            <a:r>
              <a:rPr dirty="0" sz="3050" spc="-250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5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F2328"/>
                </a:solidFill>
              </a:rPr>
              <a:t>C</a:t>
            </a:r>
            <a:r>
              <a:rPr dirty="0" sz="3000" spc="-12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20">
                <a:solidFill>
                  <a:srgbClr val="1F2328"/>
                </a:solidFill>
                <a:latin typeface="Arial"/>
                <a:cs typeface="Arial"/>
              </a:rPr>
              <a:t>de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22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180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25">
                <a:solidFill>
                  <a:srgbClr val="1F2328"/>
                </a:solidFill>
              </a:rPr>
              <a:t>C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ont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nt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5">
                <a:solidFill>
                  <a:srgbClr val="1F2328"/>
                </a:solidFill>
              </a:rPr>
              <a:t>S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305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95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95">
                <a:solidFill>
                  <a:srgbClr val="1F2328"/>
                </a:solidFill>
              </a:rPr>
              <a:t>J</a:t>
            </a:r>
            <a:r>
              <a:rPr dirty="0" sz="3050" spc="-9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95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3050" spc="-9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95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76949" y="3067208"/>
            <a:ext cx="4407535" cy="111696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65"/>
              </a:spcBef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# Domain models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(Question.java) </a:t>
            </a: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# Use cases,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interfaces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030"/>
              </a:lnSpc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# Controllers, </a:t>
            </a:r>
            <a:r>
              <a:rPr dirty="0" sz="1850" spc="-20">
                <a:solidFill>
                  <a:srgbClr val="1F2328"/>
                </a:solidFill>
                <a:latin typeface="Courier New"/>
                <a:cs typeface="Courier New"/>
              </a:rPr>
              <a:t>DTOs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95"/>
              </a:lnSpc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# JPA repositories,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entities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1700" y="2524283"/>
            <a:ext cx="3276600" cy="2469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content-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service/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40"/>
              </a:lnSpc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├──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src/main/java/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40"/>
              </a:lnSpc>
              <a:tabLst>
                <a:tab pos="577850" algn="l"/>
              </a:tabLst>
            </a:pPr>
            <a:r>
              <a:rPr dirty="0" sz="1850" spc="-50">
                <a:solidFill>
                  <a:srgbClr val="1F2328"/>
                </a:solidFill>
                <a:latin typeface="Courier New"/>
                <a:cs typeface="Courier New"/>
              </a:rPr>
              <a:t>│</a:t>
            </a: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	├──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domain/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  <a:tabLst>
                <a:tab pos="577850" algn="l"/>
              </a:tabLst>
            </a:pPr>
            <a:r>
              <a:rPr dirty="0" sz="1850" spc="-50">
                <a:solidFill>
                  <a:srgbClr val="1F2328"/>
                </a:solidFill>
                <a:latin typeface="Courier New"/>
                <a:cs typeface="Courier New"/>
              </a:rPr>
              <a:t>│</a:t>
            </a: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	├──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application/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40"/>
              </a:lnSpc>
              <a:tabLst>
                <a:tab pos="577850" algn="l"/>
              </a:tabLst>
            </a:pPr>
            <a:r>
              <a:rPr dirty="0" sz="1850" spc="-50">
                <a:solidFill>
                  <a:srgbClr val="1F2328"/>
                </a:solidFill>
                <a:latin typeface="Courier New"/>
                <a:cs typeface="Courier New"/>
              </a:rPr>
              <a:t>│</a:t>
            </a: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	├──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adapters/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40"/>
              </a:lnSpc>
              <a:tabLst>
                <a:tab pos="577850" algn="l"/>
              </a:tabLst>
            </a:pPr>
            <a:r>
              <a:rPr dirty="0" sz="1850" spc="-50">
                <a:solidFill>
                  <a:srgbClr val="1F2328"/>
                </a:solidFill>
                <a:latin typeface="Courier New"/>
                <a:cs typeface="Courier New"/>
              </a:rPr>
              <a:t>│</a:t>
            </a: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	└──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infrastructure/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├──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src/main/resources/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40"/>
              </a:lnSpc>
              <a:tabLst>
                <a:tab pos="577850" algn="l"/>
              </a:tabLst>
            </a:pPr>
            <a:r>
              <a:rPr dirty="0" sz="1850" spc="-50">
                <a:solidFill>
                  <a:srgbClr val="1F2328"/>
                </a:solidFill>
                <a:latin typeface="Courier New"/>
                <a:cs typeface="Courier New"/>
              </a:rPr>
              <a:t>│</a:t>
            </a: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	└──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application.yml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95"/>
              </a:lnSpc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└──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pom.xml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5" y="2266950"/>
            <a:ext cx="10696575" cy="3028950"/>
            <a:chOff x="752475" y="2266950"/>
            <a:chExt cx="10696575" cy="302895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271712"/>
              <a:ext cx="10687050" cy="3019425"/>
            </a:xfrm>
            <a:custGeom>
              <a:avLst/>
              <a:gdLst/>
              <a:ahLst/>
              <a:cxnLst/>
              <a:rect l="l" t="t" r="r" b="b"/>
              <a:pathLst>
                <a:path w="10687050" h="3019425">
                  <a:moveTo>
                    <a:pt x="10638091" y="3019425"/>
                  </a:moveTo>
                  <a:lnTo>
                    <a:pt x="48948" y="3019425"/>
                  </a:lnTo>
                  <a:lnTo>
                    <a:pt x="45540" y="3019091"/>
                  </a:lnTo>
                  <a:lnTo>
                    <a:pt x="10739" y="2999003"/>
                  </a:lnTo>
                  <a:lnTo>
                    <a:pt x="0" y="2970476"/>
                  </a:lnTo>
                  <a:lnTo>
                    <a:pt x="0" y="2967037"/>
                  </a:lnTo>
                  <a:lnTo>
                    <a:pt x="0" y="48948"/>
                  </a:lnTo>
                  <a:lnTo>
                    <a:pt x="17776" y="12915"/>
                  </a:lnTo>
                  <a:lnTo>
                    <a:pt x="48948" y="0"/>
                  </a:lnTo>
                  <a:lnTo>
                    <a:pt x="10638091" y="0"/>
                  </a:lnTo>
                  <a:lnTo>
                    <a:pt x="10674096" y="17773"/>
                  </a:lnTo>
                  <a:lnTo>
                    <a:pt x="10687050" y="48948"/>
                  </a:lnTo>
                  <a:lnTo>
                    <a:pt x="10687050" y="2970476"/>
                  </a:lnTo>
                  <a:lnTo>
                    <a:pt x="10669238" y="3006509"/>
                  </a:lnTo>
                  <a:lnTo>
                    <a:pt x="10641520" y="3019091"/>
                  </a:lnTo>
                  <a:lnTo>
                    <a:pt x="10638091" y="3019425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271712"/>
              <a:ext cx="10687050" cy="3019425"/>
            </a:xfrm>
            <a:custGeom>
              <a:avLst/>
              <a:gdLst/>
              <a:ahLst/>
              <a:cxnLst/>
              <a:rect l="l" t="t" r="r" b="b"/>
              <a:pathLst>
                <a:path w="10687050" h="3019425">
                  <a:moveTo>
                    <a:pt x="0" y="2967037"/>
                  </a:moveTo>
                  <a:lnTo>
                    <a:pt x="0" y="52387"/>
                  </a:lnTo>
                  <a:lnTo>
                    <a:pt x="0" y="48948"/>
                  </a:lnTo>
                  <a:lnTo>
                    <a:pt x="335" y="45539"/>
                  </a:lnTo>
                  <a:lnTo>
                    <a:pt x="1006" y="42167"/>
                  </a:lnTo>
                  <a:lnTo>
                    <a:pt x="1677" y="38795"/>
                  </a:lnTo>
                  <a:lnTo>
                    <a:pt x="2671" y="35518"/>
                  </a:lnTo>
                  <a:lnTo>
                    <a:pt x="23282" y="8829"/>
                  </a:lnTo>
                  <a:lnTo>
                    <a:pt x="26142" y="6915"/>
                  </a:lnTo>
                  <a:lnTo>
                    <a:pt x="29161" y="5305"/>
                  </a:lnTo>
                  <a:lnTo>
                    <a:pt x="32339" y="3990"/>
                  </a:lnTo>
                  <a:lnTo>
                    <a:pt x="35517" y="2667"/>
                  </a:lnTo>
                  <a:lnTo>
                    <a:pt x="38793" y="1676"/>
                  </a:lnTo>
                  <a:lnTo>
                    <a:pt x="42167" y="1009"/>
                  </a:lnTo>
                  <a:lnTo>
                    <a:pt x="45540" y="333"/>
                  </a:lnTo>
                  <a:lnTo>
                    <a:pt x="48948" y="0"/>
                  </a:lnTo>
                  <a:lnTo>
                    <a:pt x="52387" y="0"/>
                  </a:lnTo>
                  <a:lnTo>
                    <a:pt x="10634662" y="0"/>
                  </a:lnTo>
                  <a:lnTo>
                    <a:pt x="10638091" y="0"/>
                  </a:lnTo>
                  <a:lnTo>
                    <a:pt x="10641520" y="333"/>
                  </a:lnTo>
                  <a:lnTo>
                    <a:pt x="10644854" y="1009"/>
                  </a:lnTo>
                  <a:lnTo>
                    <a:pt x="10648283" y="1676"/>
                  </a:lnTo>
                  <a:lnTo>
                    <a:pt x="10651521" y="2667"/>
                  </a:lnTo>
                  <a:lnTo>
                    <a:pt x="10654665" y="3990"/>
                  </a:lnTo>
                  <a:lnTo>
                    <a:pt x="10657903" y="5305"/>
                  </a:lnTo>
                  <a:lnTo>
                    <a:pt x="10684383" y="35518"/>
                  </a:lnTo>
                  <a:lnTo>
                    <a:pt x="10687050" y="48948"/>
                  </a:lnTo>
                  <a:lnTo>
                    <a:pt x="10687050" y="52387"/>
                  </a:lnTo>
                  <a:lnTo>
                    <a:pt x="10687050" y="2967037"/>
                  </a:lnTo>
                  <a:lnTo>
                    <a:pt x="10687050" y="2970476"/>
                  </a:lnTo>
                  <a:lnTo>
                    <a:pt x="10686669" y="2973885"/>
                  </a:lnTo>
                  <a:lnTo>
                    <a:pt x="10686002" y="2977257"/>
                  </a:lnTo>
                  <a:lnTo>
                    <a:pt x="10685335" y="2980629"/>
                  </a:lnTo>
                  <a:lnTo>
                    <a:pt x="10663809" y="3010595"/>
                  </a:lnTo>
                  <a:lnTo>
                    <a:pt x="10660951" y="3012509"/>
                  </a:lnTo>
                  <a:lnTo>
                    <a:pt x="10657903" y="3014119"/>
                  </a:lnTo>
                  <a:lnTo>
                    <a:pt x="10654665" y="3015434"/>
                  </a:lnTo>
                  <a:lnTo>
                    <a:pt x="10651521" y="3016748"/>
                  </a:lnTo>
                  <a:lnTo>
                    <a:pt x="10648283" y="3017748"/>
                  </a:lnTo>
                  <a:lnTo>
                    <a:pt x="10644854" y="3018415"/>
                  </a:lnTo>
                  <a:lnTo>
                    <a:pt x="10641520" y="3019091"/>
                  </a:lnTo>
                  <a:lnTo>
                    <a:pt x="10638091" y="3019425"/>
                  </a:lnTo>
                  <a:lnTo>
                    <a:pt x="10634662" y="3019425"/>
                  </a:lnTo>
                  <a:lnTo>
                    <a:pt x="52387" y="3019425"/>
                  </a:lnTo>
                  <a:lnTo>
                    <a:pt x="48948" y="3019425"/>
                  </a:lnTo>
                  <a:lnTo>
                    <a:pt x="45540" y="3019091"/>
                  </a:lnTo>
                  <a:lnTo>
                    <a:pt x="42167" y="3018415"/>
                  </a:lnTo>
                  <a:lnTo>
                    <a:pt x="38793" y="3017748"/>
                  </a:lnTo>
                  <a:lnTo>
                    <a:pt x="23282" y="3010595"/>
                  </a:lnTo>
                  <a:lnTo>
                    <a:pt x="20422" y="3008680"/>
                  </a:lnTo>
                  <a:lnTo>
                    <a:pt x="17776" y="3006509"/>
                  </a:lnTo>
                  <a:lnTo>
                    <a:pt x="15343" y="3004080"/>
                  </a:lnTo>
                  <a:lnTo>
                    <a:pt x="12911" y="3001651"/>
                  </a:lnTo>
                  <a:lnTo>
                    <a:pt x="1006" y="2977257"/>
                  </a:lnTo>
                  <a:lnTo>
                    <a:pt x="335" y="2973885"/>
                  </a:lnTo>
                  <a:lnTo>
                    <a:pt x="0" y="2970476"/>
                  </a:lnTo>
                  <a:lnTo>
                    <a:pt x="0" y="2967037"/>
                  </a:lnTo>
                  <a:close/>
                </a:path>
              </a:pathLst>
            </a:custGeom>
            <a:ln w="9525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512215"/>
            <a:ext cx="608139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95">
                <a:solidFill>
                  <a:srgbClr val="1F2328"/>
                </a:solidFill>
              </a:rPr>
              <a:t>C</a:t>
            </a:r>
            <a:r>
              <a:rPr dirty="0" sz="3050" spc="-95">
                <a:solidFill>
                  <a:srgbClr val="1F2328"/>
                </a:solidFill>
                <a:latin typeface="Arial"/>
                <a:cs typeface="Arial"/>
              </a:rPr>
              <a:t>ấ</a:t>
            </a:r>
            <a:r>
              <a:rPr dirty="0" sz="3000" spc="-95">
                <a:solidFill>
                  <a:srgbClr val="1F2328"/>
                </a:solidFill>
                <a:latin typeface="Arial"/>
                <a:cs typeface="Arial"/>
              </a:rPr>
              <a:t>u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50">
                <a:solidFill>
                  <a:srgbClr val="1F2328"/>
                </a:solidFill>
              </a:rPr>
              <a:t>T</a:t>
            </a:r>
            <a:r>
              <a:rPr dirty="0" sz="3000" spc="-250">
                <a:solidFill>
                  <a:srgbClr val="1F2328"/>
                </a:solidFill>
                <a:latin typeface="Arial"/>
                <a:cs typeface="Arial"/>
              </a:rPr>
              <a:t>rú</a:t>
            </a:r>
            <a:r>
              <a:rPr dirty="0" sz="3050" spc="-250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0">
                <a:solidFill>
                  <a:srgbClr val="1F2328"/>
                </a:solidFill>
              </a:rPr>
              <a:t>C</a:t>
            </a:r>
            <a:r>
              <a:rPr dirty="0" sz="3000" spc="-12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20">
                <a:solidFill>
                  <a:srgbClr val="1F2328"/>
                </a:solidFill>
                <a:latin typeface="Arial"/>
                <a:cs typeface="Arial"/>
              </a:rPr>
              <a:t>de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220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3000" spc="-18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50">
                <a:solidFill>
                  <a:srgbClr val="1F2328"/>
                </a:solidFill>
              </a:rPr>
              <a:t>S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or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5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50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50" spc="-204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5">
                <a:solidFill>
                  <a:srgbClr val="1F2328"/>
                </a:solidFill>
              </a:rPr>
              <a:t>S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rv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ice</a:t>
            </a:r>
            <a:r>
              <a:rPr dirty="0" sz="305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0">
                <a:solidFill>
                  <a:srgbClr val="1F2328"/>
                </a:solidFill>
                <a:latin typeface="Gill Sans MT"/>
                <a:cs typeface="Gill Sans MT"/>
              </a:rPr>
              <a:t>(</a:t>
            </a:r>
            <a:r>
              <a:rPr dirty="0" sz="3000" spc="-30">
                <a:solidFill>
                  <a:srgbClr val="1F2328"/>
                </a:solidFill>
              </a:rPr>
              <a:t>G</a:t>
            </a:r>
            <a:r>
              <a:rPr dirty="0" sz="3000" spc="-30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00" spc="-30">
                <a:solidFill>
                  <a:srgbClr val="1F2328"/>
                </a:solidFill>
                <a:latin typeface="Gill Sans MT"/>
                <a:cs typeface="Gill Sans MT"/>
              </a:rPr>
              <a:t>)</a:t>
            </a:r>
            <a:endParaRPr sz="3000">
              <a:latin typeface="Gill Sans MT"/>
              <a:cs typeface="Gill Sans MT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882650" y="2420486"/>
          <a:ext cx="7066280" cy="2157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12465"/>
                <a:gridCol w="706754"/>
                <a:gridCol w="3070860"/>
              </a:tblGrid>
              <a:tr h="269875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scoring-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service/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├──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cmd/api/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2039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39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Entry point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(main.go)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├──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internal/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66700">
                <a:tc>
                  <a:txBody>
                    <a:bodyPr/>
                    <a:lstStyle/>
                    <a:p>
                      <a:pPr marL="31750">
                        <a:lnSpc>
                          <a:spcPts val="2000"/>
                        </a:lnSpc>
                        <a:tabLst>
                          <a:tab pos="596900" algn="l"/>
                        </a:tabLst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	├──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model/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2000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00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Domain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models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  <a:tabLst>
                          <a:tab pos="596900" algn="l"/>
                        </a:tabLst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	├──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handler/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2039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39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HTTP handlers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(Gin)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  <a:tabLst>
                          <a:tab pos="596900" algn="l"/>
                        </a:tabLst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	├──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service/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2039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39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Business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logic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6700">
                <a:tc>
                  <a:txBody>
                    <a:bodyPr/>
                    <a:lstStyle/>
                    <a:p>
                      <a:pPr marL="31750">
                        <a:lnSpc>
                          <a:spcPts val="2000"/>
                        </a:lnSpc>
                        <a:tabLst>
                          <a:tab pos="596900" algn="l"/>
                        </a:tabLst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	├──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repository/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2000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00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Data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access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269875">
                <a:tc>
                  <a:txBody>
                    <a:bodyPr/>
                    <a:lstStyle/>
                    <a:p>
                      <a:pPr marL="31750">
                        <a:lnSpc>
                          <a:spcPts val="2025"/>
                        </a:lnSpc>
                        <a:tabLst>
                          <a:tab pos="596900" algn="l"/>
                        </a:tabLst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│</a:t>
                      </a: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	└── 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sqlboiler/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2025"/>
                        </a:lnSpc>
                      </a:pPr>
                      <a:r>
                        <a:rPr dirty="0" sz="1850" spc="-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2025"/>
                        </a:lnSpc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Generated ORM </a:t>
                      </a:r>
                      <a:r>
                        <a:rPr dirty="0" sz="1850" spc="-2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code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901700" y="4553108"/>
            <a:ext cx="2569845" cy="574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├──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db/migrations/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dirty="0" sz="1850">
                <a:solidFill>
                  <a:srgbClr val="1F2328"/>
                </a:solidFill>
                <a:latin typeface="Courier New"/>
                <a:cs typeface="Courier New"/>
              </a:rPr>
              <a:t>└── </a:t>
            </a:r>
            <a:r>
              <a:rPr dirty="0" sz="1850" spc="-10">
                <a:solidFill>
                  <a:srgbClr val="1F2328"/>
                </a:solidFill>
                <a:latin typeface="Courier New"/>
                <a:cs typeface="Courier New"/>
              </a:rPr>
              <a:t>go.mod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52475" y="2400300"/>
            <a:ext cx="10696575" cy="2762250"/>
            <a:chOff x="752475" y="2400300"/>
            <a:chExt cx="10696575" cy="2762250"/>
          </a:xfrm>
        </p:grpSpPr>
        <p:sp>
          <p:nvSpPr>
            <p:cNvPr id="3" name="object 3" descr=""/>
            <p:cNvSpPr/>
            <p:nvPr/>
          </p:nvSpPr>
          <p:spPr>
            <a:xfrm>
              <a:off x="757237" y="24050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10638091" y="2752725"/>
                  </a:moveTo>
                  <a:lnTo>
                    <a:pt x="48948" y="2752725"/>
                  </a:lnTo>
                  <a:lnTo>
                    <a:pt x="45540" y="2752391"/>
                  </a:lnTo>
                  <a:lnTo>
                    <a:pt x="10739" y="2732303"/>
                  </a:lnTo>
                  <a:lnTo>
                    <a:pt x="0" y="2703776"/>
                  </a:lnTo>
                  <a:lnTo>
                    <a:pt x="0" y="2700337"/>
                  </a:lnTo>
                  <a:lnTo>
                    <a:pt x="0" y="48948"/>
                  </a:lnTo>
                  <a:lnTo>
                    <a:pt x="17776" y="12915"/>
                  </a:lnTo>
                  <a:lnTo>
                    <a:pt x="48948" y="0"/>
                  </a:lnTo>
                  <a:lnTo>
                    <a:pt x="10638091" y="0"/>
                  </a:lnTo>
                  <a:lnTo>
                    <a:pt x="10674096" y="17773"/>
                  </a:lnTo>
                  <a:lnTo>
                    <a:pt x="10687050" y="48948"/>
                  </a:lnTo>
                  <a:lnTo>
                    <a:pt x="10687050" y="2703776"/>
                  </a:lnTo>
                  <a:lnTo>
                    <a:pt x="10669238" y="2739809"/>
                  </a:lnTo>
                  <a:lnTo>
                    <a:pt x="10641520" y="2752391"/>
                  </a:lnTo>
                  <a:lnTo>
                    <a:pt x="10638091" y="2752725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57237" y="2405062"/>
              <a:ext cx="10687050" cy="2752725"/>
            </a:xfrm>
            <a:custGeom>
              <a:avLst/>
              <a:gdLst/>
              <a:ahLst/>
              <a:cxnLst/>
              <a:rect l="l" t="t" r="r" b="b"/>
              <a:pathLst>
                <a:path w="10687050" h="2752725">
                  <a:moveTo>
                    <a:pt x="0" y="2700337"/>
                  </a:moveTo>
                  <a:lnTo>
                    <a:pt x="0" y="52387"/>
                  </a:lnTo>
                  <a:lnTo>
                    <a:pt x="0" y="48948"/>
                  </a:lnTo>
                  <a:lnTo>
                    <a:pt x="335" y="45539"/>
                  </a:lnTo>
                  <a:lnTo>
                    <a:pt x="1006" y="42167"/>
                  </a:lnTo>
                  <a:lnTo>
                    <a:pt x="1677" y="38795"/>
                  </a:lnTo>
                  <a:lnTo>
                    <a:pt x="2671" y="35518"/>
                  </a:lnTo>
                  <a:lnTo>
                    <a:pt x="23282" y="8829"/>
                  </a:lnTo>
                  <a:lnTo>
                    <a:pt x="26142" y="6915"/>
                  </a:lnTo>
                  <a:lnTo>
                    <a:pt x="29161" y="5305"/>
                  </a:lnTo>
                  <a:lnTo>
                    <a:pt x="32339" y="3990"/>
                  </a:lnTo>
                  <a:lnTo>
                    <a:pt x="35517" y="2667"/>
                  </a:lnTo>
                  <a:lnTo>
                    <a:pt x="38793" y="1676"/>
                  </a:lnTo>
                  <a:lnTo>
                    <a:pt x="42167" y="1009"/>
                  </a:lnTo>
                  <a:lnTo>
                    <a:pt x="45540" y="333"/>
                  </a:lnTo>
                  <a:lnTo>
                    <a:pt x="48948" y="0"/>
                  </a:lnTo>
                  <a:lnTo>
                    <a:pt x="52387" y="0"/>
                  </a:lnTo>
                  <a:lnTo>
                    <a:pt x="10634662" y="0"/>
                  </a:lnTo>
                  <a:lnTo>
                    <a:pt x="10638091" y="0"/>
                  </a:lnTo>
                  <a:lnTo>
                    <a:pt x="10641520" y="333"/>
                  </a:lnTo>
                  <a:lnTo>
                    <a:pt x="10644854" y="1009"/>
                  </a:lnTo>
                  <a:lnTo>
                    <a:pt x="10648283" y="1676"/>
                  </a:lnTo>
                  <a:lnTo>
                    <a:pt x="10651521" y="2667"/>
                  </a:lnTo>
                  <a:lnTo>
                    <a:pt x="10654665" y="3990"/>
                  </a:lnTo>
                  <a:lnTo>
                    <a:pt x="10657903" y="5305"/>
                  </a:lnTo>
                  <a:lnTo>
                    <a:pt x="10684383" y="35518"/>
                  </a:lnTo>
                  <a:lnTo>
                    <a:pt x="10686002" y="42167"/>
                  </a:lnTo>
                  <a:lnTo>
                    <a:pt x="10686669" y="45539"/>
                  </a:lnTo>
                  <a:lnTo>
                    <a:pt x="10687050" y="48948"/>
                  </a:lnTo>
                  <a:lnTo>
                    <a:pt x="10687050" y="52387"/>
                  </a:lnTo>
                  <a:lnTo>
                    <a:pt x="10687050" y="2700337"/>
                  </a:lnTo>
                  <a:lnTo>
                    <a:pt x="10687050" y="2703776"/>
                  </a:lnTo>
                  <a:lnTo>
                    <a:pt x="10686669" y="2707185"/>
                  </a:lnTo>
                  <a:lnTo>
                    <a:pt x="10686002" y="2710557"/>
                  </a:lnTo>
                  <a:lnTo>
                    <a:pt x="10685335" y="2713929"/>
                  </a:lnTo>
                  <a:lnTo>
                    <a:pt x="10663809" y="2743895"/>
                  </a:lnTo>
                  <a:lnTo>
                    <a:pt x="10660951" y="2745809"/>
                  </a:lnTo>
                  <a:lnTo>
                    <a:pt x="10657903" y="2747419"/>
                  </a:lnTo>
                  <a:lnTo>
                    <a:pt x="10654665" y="2748734"/>
                  </a:lnTo>
                  <a:lnTo>
                    <a:pt x="10651521" y="2750048"/>
                  </a:lnTo>
                  <a:lnTo>
                    <a:pt x="10648283" y="2751048"/>
                  </a:lnTo>
                  <a:lnTo>
                    <a:pt x="10644854" y="2751715"/>
                  </a:lnTo>
                  <a:lnTo>
                    <a:pt x="10641520" y="2752391"/>
                  </a:lnTo>
                  <a:lnTo>
                    <a:pt x="10638091" y="2752725"/>
                  </a:lnTo>
                  <a:lnTo>
                    <a:pt x="10634662" y="2752725"/>
                  </a:lnTo>
                  <a:lnTo>
                    <a:pt x="52387" y="2752725"/>
                  </a:lnTo>
                  <a:lnTo>
                    <a:pt x="48948" y="2752725"/>
                  </a:lnTo>
                  <a:lnTo>
                    <a:pt x="45540" y="2752391"/>
                  </a:lnTo>
                  <a:lnTo>
                    <a:pt x="42167" y="2751715"/>
                  </a:lnTo>
                  <a:lnTo>
                    <a:pt x="38793" y="2751048"/>
                  </a:lnTo>
                  <a:lnTo>
                    <a:pt x="23282" y="2743895"/>
                  </a:lnTo>
                  <a:lnTo>
                    <a:pt x="20422" y="2741980"/>
                  </a:lnTo>
                  <a:lnTo>
                    <a:pt x="17776" y="2739809"/>
                  </a:lnTo>
                  <a:lnTo>
                    <a:pt x="15343" y="2737380"/>
                  </a:lnTo>
                  <a:lnTo>
                    <a:pt x="12911" y="2734951"/>
                  </a:lnTo>
                  <a:lnTo>
                    <a:pt x="1006" y="2710557"/>
                  </a:lnTo>
                  <a:lnTo>
                    <a:pt x="335" y="2707185"/>
                  </a:lnTo>
                  <a:lnTo>
                    <a:pt x="0" y="2703776"/>
                  </a:lnTo>
                  <a:lnTo>
                    <a:pt x="0" y="2700337"/>
                  </a:lnTo>
                  <a:close/>
                </a:path>
              </a:pathLst>
            </a:custGeom>
            <a:ln w="9525">
              <a:solidFill>
                <a:srgbClr val="D0D9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5012" y="1645565"/>
            <a:ext cx="5441315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75">
                <a:solidFill>
                  <a:srgbClr val="1F2328"/>
                </a:solidFill>
              </a:rPr>
              <a:t>D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cke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75">
                <a:solidFill>
                  <a:srgbClr val="1F2328"/>
                </a:solidFill>
              </a:rPr>
              <a:t>C</a:t>
            </a:r>
            <a:r>
              <a:rPr dirty="0" sz="3000" spc="-175">
                <a:solidFill>
                  <a:srgbClr val="1F2328"/>
                </a:solidFill>
                <a:latin typeface="Arial"/>
                <a:cs typeface="Arial"/>
              </a:rPr>
              <a:t>ompos</a:t>
            </a:r>
            <a:r>
              <a:rPr dirty="0" sz="3050" spc="-17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50" spc="-19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15">
                <a:solidFill>
                  <a:srgbClr val="1F2328"/>
                </a:solidFill>
                <a:latin typeface="Gill Sans MT"/>
                <a:cs typeface="Gill Sans MT"/>
              </a:rPr>
              <a:t>&amp;</a:t>
            </a:r>
            <a:r>
              <a:rPr dirty="0" sz="3000" spc="-18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3000" spc="-145">
                <a:solidFill>
                  <a:srgbClr val="1F2328"/>
                </a:solidFill>
              </a:rPr>
              <a:t>I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f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r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stru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c</a:t>
            </a:r>
            <a:r>
              <a:rPr dirty="0" sz="3000" spc="-145">
                <a:solidFill>
                  <a:srgbClr val="1F2328"/>
                </a:solidFill>
                <a:latin typeface="Arial"/>
                <a:cs typeface="Arial"/>
              </a:rPr>
              <a:t>tur</a:t>
            </a:r>
            <a:r>
              <a:rPr dirty="0" sz="3050" spc="-145">
                <a:solidFill>
                  <a:srgbClr val="1F2328"/>
                </a:solidFill>
                <a:latin typeface="Arial"/>
                <a:cs typeface="Arial"/>
              </a:rPr>
              <a:t>e</a:t>
            </a:r>
            <a:endParaRPr sz="305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1700" y="2524283"/>
            <a:ext cx="6951980" cy="2469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95"/>
              </a:spcBef>
            </a:pPr>
            <a:r>
              <a:rPr dirty="0" sz="1850" spc="-10">
                <a:solidFill>
                  <a:srgbClr val="044FAE"/>
                </a:solidFill>
                <a:latin typeface="Courier New"/>
                <a:cs typeface="Courier New"/>
              </a:rPr>
              <a:t>services:</a:t>
            </a:r>
            <a:endParaRPr sz="1850">
              <a:latin typeface="Courier New"/>
              <a:cs typeface="Courier New"/>
            </a:endParaRPr>
          </a:p>
          <a:p>
            <a:pPr marL="295275" marR="5080">
              <a:lnSpc>
                <a:spcPts val="2180"/>
              </a:lnSpc>
              <a:spcBef>
                <a:spcPts val="50"/>
              </a:spcBef>
            </a:pP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content-service: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Java Spring Boot - port </a:t>
            </a:r>
            <a:r>
              <a:rPr dirty="0" sz="1850" spc="-20">
                <a:solidFill>
                  <a:srgbClr val="58626E"/>
                </a:solidFill>
                <a:latin typeface="Courier New"/>
                <a:cs typeface="Courier New"/>
              </a:rPr>
              <a:t>8081 </a:t>
            </a: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scoring-service: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Go Gin - port </a:t>
            </a:r>
            <a:r>
              <a:rPr dirty="0" sz="1850" spc="-20">
                <a:solidFill>
                  <a:srgbClr val="58626E"/>
                </a:solidFill>
                <a:latin typeface="Courier New"/>
                <a:cs typeface="Courier New"/>
              </a:rPr>
              <a:t>8082</a:t>
            </a:r>
            <a:endParaRPr sz="1850">
              <a:latin typeface="Courier New"/>
              <a:cs typeface="Courier New"/>
            </a:endParaRPr>
          </a:p>
          <a:p>
            <a:pPr marL="295275">
              <a:lnSpc>
                <a:spcPts val="1970"/>
              </a:lnSpc>
            </a:pP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learner-model-api: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Go Gin - port </a:t>
            </a:r>
            <a:r>
              <a:rPr dirty="0" sz="1850" spc="-20">
                <a:solidFill>
                  <a:srgbClr val="58626E"/>
                </a:solidFill>
                <a:latin typeface="Courier New"/>
                <a:cs typeface="Courier New"/>
              </a:rPr>
              <a:t>8083</a:t>
            </a:r>
            <a:endParaRPr sz="1850">
              <a:latin typeface="Courier New"/>
              <a:cs typeface="Courier New"/>
            </a:endParaRPr>
          </a:p>
          <a:p>
            <a:pPr marL="295275" marR="1276985">
              <a:lnSpc>
                <a:spcPct val="96300"/>
              </a:lnSpc>
              <a:spcBef>
                <a:spcPts val="20"/>
              </a:spcBef>
            </a:pP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adaptive-engine: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Go Gin - port </a:t>
            </a:r>
            <a:r>
              <a:rPr dirty="0" sz="1850" spc="-20">
                <a:solidFill>
                  <a:srgbClr val="58626E"/>
                </a:solidFill>
                <a:latin typeface="Courier New"/>
                <a:cs typeface="Courier New"/>
              </a:rPr>
              <a:t>8080 </a:t>
            </a: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rabbitmq: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Message broker - port </a:t>
            </a:r>
            <a:r>
              <a:rPr dirty="0" sz="1850" spc="-20">
                <a:solidFill>
                  <a:srgbClr val="58626E"/>
                </a:solidFill>
                <a:latin typeface="Courier New"/>
                <a:cs typeface="Courier New"/>
              </a:rPr>
              <a:t>5672 </a:t>
            </a: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postgres-content: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</a:t>
            </a:r>
            <a:r>
              <a:rPr dirty="0" sz="1850" spc="-10">
                <a:solidFill>
                  <a:srgbClr val="58626E"/>
                </a:solidFill>
                <a:latin typeface="Courier New"/>
                <a:cs typeface="Courier New"/>
              </a:rPr>
              <a:t>content_db </a:t>
            </a: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postgres-scoring: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</a:t>
            </a:r>
            <a:r>
              <a:rPr dirty="0" sz="1850" spc="-10">
                <a:solidFill>
                  <a:srgbClr val="58626E"/>
                </a:solidFill>
                <a:latin typeface="Courier New"/>
                <a:cs typeface="Courier New"/>
              </a:rPr>
              <a:t>scoring_db </a:t>
            </a:r>
            <a:r>
              <a:rPr dirty="0" sz="1850">
                <a:solidFill>
                  <a:srgbClr val="044FAE"/>
                </a:solidFill>
                <a:latin typeface="Courier New"/>
                <a:cs typeface="Courier New"/>
              </a:rPr>
              <a:t>postgres-learner: </a:t>
            </a:r>
            <a:r>
              <a:rPr dirty="0" sz="1850">
                <a:solidFill>
                  <a:srgbClr val="58626E"/>
                </a:solidFill>
                <a:latin typeface="Courier New"/>
                <a:cs typeface="Courier New"/>
              </a:rPr>
              <a:t># </a:t>
            </a:r>
            <a:r>
              <a:rPr dirty="0" sz="1850" spc="-10">
                <a:solidFill>
                  <a:srgbClr val="58626E"/>
                </a:solidFill>
                <a:latin typeface="Courier New"/>
                <a:cs typeface="Courier New"/>
              </a:rPr>
              <a:t>learner_db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943225" y="3514725"/>
            <a:ext cx="3838575" cy="533400"/>
          </a:xfrm>
          <a:custGeom>
            <a:avLst/>
            <a:gdLst/>
            <a:ahLst/>
            <a:cxnLst/>
            <a:rect l="l" t="t" r="r" b="b"/>
            <a:pathLst>
              <a:path w="3838575" h="533400">
                <a:moveTo>
                  <a:pt x="3838575" y="533400"/>
                </a:moveTo>
                <a:lnTo>
                  <a:pt x="0" y="533400"/>
                </a:lnTo>
                <a:lnTo>
                  <a:pt x="0" y="0"/>
                </a:lnTo>
                <a:lnTo>
                  <a:pt x="3838575" y="0"/>
                </a:lnTo>
                <a:lnTo>
                  <a:pt x="3838575" y="533400"/>
                </a:lnTo>
                <a:close/>
              </a:path>
            </a:pathLst>
          </a:custGeom>
          <a:solidFill>
            <a:srgbClr val="F5F7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2943225" y="4591050"/>
            <a:ext cx="3838575" cy="533400"/>
            <a:chOff x="2943225" y="4591050"/>
            <a:chExt cx="3838575" cy="533400"/>
          </a:xfrm>
        </p:grpSpPr>
        <p:sp>
          <p:nvSpPr>
            <p:cNvPr id="4" name="object 4" descr=""/>
            <p:cNvSpPr/>
            <p:nvPr/>
          </p:nvSpPr>
          <p:spPr>
            <a:xfrm>
              <a:off x="2943225" y="4591050"/>
              <a:ext cx="3838575" cy="533400"/>
            </a:xfrm>
            <a:custGeom>
              <a:avLst/>
              <a:gdLst/>
              <a:ahLst/>
              <a:cxnLst/>
              <a:rect l="l" t="t" r="r" b="b"/>
              <a:pathLst>
                <a:path w="3838575" h="533400">
                  <a:moveTo>
                    <a:pt x="3838575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3838575" y="0"/>
                  </a:lnTo>
                  <a:lnTo>
                    <a:pt x="3838575" y="533400"/>
                  </a:lnTo>
                  <a:close/>
                </a:path>
              </a:pathLst>
            </a:custGeom>
            <a:solidFill>
              <a:srgbClr val="F5F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067050" y="4695825"/>
              <a:ext cx="3581400" cy="361950"/>
            </a:xfrm>
            <a:custGeom>
              <a:avLst/>
              <a:gdLst/>
              <a:ahLst/>
              <a:cxnLst/>
              <a:rect l="l" t="t" r="r" b="b"/>
              <a:pathLst>
                <a:path w="3581400" h="361950">
                  <a:moveTo>
                    <a:pt x="3528002" y="361950"/>
                  </a:moveTo>
                  <a:lnTo>
                    <a:pt x="53397" y="361950"/>
                  </a:lnTo>
                  <a:lnTo>
                    <a:pt x="49682" y="361588"/>
                  </a:lnTo>
                  <a:lnTo>
                    <a:pt x="14087" y="342557"/>
                  </a:lnTo>
                  <a:lnTo>
                    <a:pt x="0" y="308552"/>
                  </a:lnTo>
                  <a:lnTo>
                    <a:pt x="0" y="304800"/>
                  </a:lnTo>
                  <a:lnTo>
                    <a:pt x="0" y="53397"/>
                  </a:lnTo>
                  <a:lnTo>
                    <a:pt x="19392" y="14087"/>
                  </a:lnTo>
                  <a:lnTo>
                    <a:pt x="53397" y="0"/>
                  </a:lnTo>
                  <a:lnTo>
                    <a:pt x="3528002" y="0"/>
                  </a:lnTo>
                  <a:lnTo>
                    <a:pt x="3567312" y="19392"/>
                  </a:lnTo>
                  <a:lnTo>
                    <a:pt x="3581400" y="53397"/>
                  </a:lnTo>
                  <a:lnTo>
                    <a:pt x="3581400" y="308552"/>
                  </a:lnTo>
                  <a:lnTo>
                    <a:pt x="3562007" y="347862"/>
                  </a:lnTo>
                  <a:lnTo>
                    <a:pt x="3531717" y="361588"/>
                  </a:lnTo>
                  <a:lnTo>
                    <a:pt x="3528002" y="361950"/>
                  </a:lnTo>
                  <a:close/>
                </a:path>
              </a:pathLst>
            </a:custGeom>
            <a:solidFill>
              <a:srgbClr val="818B98">
                <a:alpha val="121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35012" y="1674140"/>
            <a:ext cx="3329304" cy="49339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50">
                <a:solidFill>
                  <a:srgbClr val="1F2328"/>
                </a:solidFill>
              </a:rPr>
              <a:t>API</a:t>
            </a:r>
            <a:r>
              <a:rPr dirty="0" sz="3000" spc="-235">
                <a:solidFill>
                  <a:srgbClr val="1F2328"/>
                </a:solidFill>
              </a:rPr>
              <a:t> </a:t>
            </a:r>
            <a:r>
              <a:rPr dirty="0" sz="3000" spc="-190">
                <a:solidFill>
                  <a:srgbClr val="1F2328"/>
                </a:solidFill>
              </a:rPr>
              <a:t>E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d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po</a:t>
            </a:r>
            <a:r>
              <a:rPr dirty="0" sz="3050" spc="-190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3000" spc="-190">
                <a:solidFill>
                  <a:srgbClr val="1F2328"/>
                </a:solidFill>
                <a:latin typeface="Arial"/>
                <a:cs typeface="Arial"/>
              </a:rPr>
              <a:t>nts</a:t>
            </a:r>
            <a:r>
              <a:rPr dirty="0" sz="3000" spc="-16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25">
                <a:solidFill>
                  <a:srgbClr val="1F2328"/>
                </a:solidFill>
              </a:rPr>
              <a:t>D</a:t>
            </a:r>
            <a:r>
              <a:rPr dirty="0" sz="3050" spc="-12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25">
                <a:solidFill>
                  <a:srgbClr val="1F2328"/>
                </a:solidFill>
                <a:latin typeface="Arial"/>
                <a:cs typeface="Arial"/>
              </a:rPr>
              <a:t>mo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67050" y="3076575"/>
            <a:ext cx="2876550" cy="371475"/>
          </a:xfrm>
          <a:custGeom>
            <a:avLst/>
            <a:gdLst/>
            <a:ahLst/>
            <a:cxnLst/>
            <a:rect l="l" t="t" r="r" b="b"/>
            <a:pathLst>
              <a:path w="2876550" h="371475">
                <a:moveTo>
                  <a:pt x="2823152" y="371475"/>
                </a:moveTo>
                <a:lnTo>
                  <a:pt x="53397" y="371475"/>
                </a:lnTo>
                <a:lnTo>
                  <a:pt x="49682" y="371113"/>
                </a:lnTo>
                <a:lnTo>
                  <a:pt x="14087" y="352082"/>
                </a:lnTo>
                <a:lnTo>
                  <a:pt x="0" y="318077"/>
                </a:lnTo>
                <a:lnTo>
                  <a:pt x="0" y="3143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2823152" y="0"/>
                </a:lnTo>
                <a:lnTo>
                  <a:pt x="2862462" y="19392"/>
                </a:lnTo>
                <a:lnTo>
                  <a:pt x="2876550" y="53397"/>
                </a:lnTo>
                <a:lnTo>
                  <a:pt x="2876550" y="318077"/>
                </a:lnTo>
                <a:lnTo>
                  <a:pt x="2857157" y="357387"/>
                </a:lnTo>
                <a:lnTo>
                  <a:pt x="2826867" y="371113"/>
                </a:lnTo>
                <a:lnTo>
                  <a:pt x="2823152" y="3714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067050" y="3619500"/>
            <a:ext cx="3305175" cy="361950"/>
          </a:xfrm>
          <a:custGeom>
            <a:avLst/>
            <a:gdLst/>
            <a:ahLst/>
            <a:cxnLst/>
            <a:rect l="l" t="t" r="r" b="b"/>
            <a:pathLst>
              <a:path w="3305175" h="361950">
                <a:moveTo>
                  <a:pt x="3251777" y="361950"/>
                </a:moveTo>
                <a:lnTo>
                  <a:pt x="53397" y="361950"/>
                </a:lnTo>
                <a:lnTo>
                  <a:pt x="49682" y="361588"/>
                </a:lnTo>
                <a:lnTo>
                  <a:pt x="14087" y="342557"/>
                </a:lnTo>
                <a:lnTo>
                  <a:pt x="0" y="308552"/>
                </a:lnTo>
                <a:lnTo>
                  <a:pt x="0" y="304800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3251777" y="0"/>
                </a:lnTo>
                <a:lnTo>
                  <a:pt x="3291087" y="19392"/>
                </a:lnTo>
                <a:lnTo>
                  <a:pt x="3305175" y="53397"/>
                </a:lnTo>
                <a:lnTo>
                  <a:pt x="3305175" y="308552"/>
                </a:lnTo>
                <a:lnTo>
                  <a:pt x="3285782" y="347862"/>
                </a:lnTo>
                <a:lnTo>
                  <a:pt x="3255492" y="361588"/>
                </a:lnTo>
                <a:lnTo>
                  <a:pt x="3251777" y="361950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067050" y="4152900"/>
            <a:ext cx="2876550" cy="371475"/>
          </a:xfrm>
          <a:custGeom>
            <a:avLst/>
            <a:gdLst/>
            <a:ahLst/>
            <a:cxnLst/>
            <a:rect l="l" t="t" r="r" b="b"/>
            <a:pathLst>
              <a:path w="2876550" h="371475">
                <a:moveTo>
                  <a:pt x="2823152" y="371475"/>
                </a:moveTo>
                <a:lnTo>
                  <a:pt x="53397" y="371475"/>
                </a:lnTo>
                <a:lnTo>
                  <a:pt x="49682" y="371113"/>
                </a:lnTo>
                <a:lnTo>
                  <a:pt x="14087" y="352082"/>
                </a:lnTo>
                <a:lnTo>
                  <a:pt x="0" y="318077"/>
                </a:lnTo>
                <a:lnTo>
                  <a:pt x="0" y="3143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2823152" y="0"/>
                </a:lnTo>
                <a:lnTo>
                  <a:pt x="2862462" y="19392"/>
                </a:lnTo>
                <a:lnTo>
                  <a:pt x="2876550" y="53397"/>
                </a:lnTo>
                <a:lnTo>
                  <a:pt x="2876550" y="318077"/>
                </a:lnTo>
                <a:lnTo>
                  <a:pt x="2857157" y="357387"/>
                </a:lnTo>
                <a:lnTo>
                  <a:pt x="2826867" y="371113"/>
                </a:lnTo>
                <a:lnTo>
                  <a:pt x="2823152" y="371475"/>
                </a:lnTo>
                <a:close/>
              </a:path>
            </a:pathLst>
          </a:custGeom>
          <a:solidFill>
            <a:srgbClr val="818B98">
              <a:alpha val="12159"/>
            </a:srgbClr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752475" y="2428875"/>
          <a:ext cx="10048875" cy="2695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1225"/>
                <a:gridCol w="3838575"/>
                <a:gridCol w="1228725"/>
                <a:gridCol w="2714625"/>
              </a:tblGrid>
              <a:tr h="54292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300" spc="-10" b="1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23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30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rv</a:t>
                      </a:r>
                      <a:r>
                        <a:rPr dirty="0" sz="23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ice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300" spc="-10" b="1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230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23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dirty="0" sz="230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po</a:t>
                      </a:r>
                      <a:r>
                        <a:rPr dirty="0" sz="23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230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nt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300" spc="-10" b="1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dirty="0" sz="23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230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3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</a:t>
                      </a:r>
                      <a:r>
                        <a:rPr dirty="0" sz="230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2350" spc="-1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2300" spc="-20" b="1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dirty="0" sz="2300" spc="-20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ô</a:t>
                      </a:r>
                      <a:r>
                        <a:rPr dirty="0" sz="2300" spc="-14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2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dirty="0" sz="2350" spc="-25" b="1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ả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75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2300" spc="-7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daptive</a:t>
                      </a:r>
                      <a:r>
                        <a:rPr dirty="0" sz="2300" spc="-9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ngine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85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/api/v1/next-</a:t>
                      </a: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lesson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13081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25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GET</a:t>
                      </a:r>
                      <a:endParaRPr sz="23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9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2300" spc="-9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ấy</a:t>
                      </a:r>
                      <a:r>
                        <a:rPr dirty="0" sz="2300" spc="-114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bài</a:t>
                      </a:r>
                      <a:r>
                        <a:rPr dirty="0" sz="2300" spc="-114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học</a:t>
                      </a:r>
                      <a:r>
                        <a:rPr dirty="0" sz="2300" spc="-1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7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tiếp</a:t>
                      </a:r>
                      <a:r>
                        <a:rPr dirty="0" sz="2300" spc="-114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theo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55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2300" spc="-5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ontent</a:t>
                      </a:r>
                      <a:r>
                        <a:rPr dirty="0" sz="2300" spc="-9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ervice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/api/v1/questions/{id}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14033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25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GET</a:t>
                      </a:r>
                      <a:endParaRPr sz="23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9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2300" spc="-9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ấy</a:t>
                      </a:r>
                      <a:r>
                        <a:rPr dirty="0" sz="2300" spc="-1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câu</a:t>
                      </a:r>
                      <a:r>
                        <a:rPr dirty="0" sz="2300" spc="-1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hỏi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45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2300" spc="-4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coring</a:t>
                      </a:r>
                      <a:r>
                        <a:rPr dirty="0" sz="2300" spc="-1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ervice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/api/v1/submissions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130810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2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POST</a:t>
                      </a:r>
                      <a:endParaRPr sz="23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55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2300" spc="-5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ộp</a:t>
                      </a:r>
                      <a:r>
                        <a:rPr dirty="0" sz="2300" spc="-1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bài</a:t>
                      </a:r>
                      <a:r>
                        <a:rPr dirty="0" sz="2300" spc="-1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làm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114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2300" spc="-114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earner</a:t>
                      </a:r>
                      <a:r>
                        <a:rPr dirty="0" sz="2300" spc="-12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odel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22479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dirty="0" sz="1850" spc="-10">
                          <a:solidFill>
                            <a:srgbClr val="1F2328"/>
                          </a:solidFill>
                          <a:latin typeface="Courier New"/>
                          <a:cs typeface="Courier New"/>
                        </a:rPr>
                        <a:t>/api/v1/mastery/{userId}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B="0" marT="14033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25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GET</a:t>
                      </a:r>
                      <a:endParaRPr sz="2300">
                        <a:latin typeface="Trebuchet MS"/>
                        <a:cs typeface="Trebuchet MS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dirty="0" sz="2300" spc="-90">
                          <a:solidFill>
                            <a:srgbClr val="1F2328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2300" spc="-9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ấy</a:t>
                      </a:r>
                      <a:r>
                        <a:rPr dirty="0" sz="2300" spc="-13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7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2300" spc="-125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300" spc="-10">
                          <a:solidFill>
                            <a:srgbClr val="1F2328"/>
                          </a:solidFill>
                          <a:latin typeface="Arial"/>
                          <a:cs typeface="Arial"/>
                        </a:rPr>
                        <a:t>mastery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B="0" marT="74295">
                    <a:lnL w="9525">
                      <a:solidFill>
                        <a:srgbClr val="D0D9DF"/>
                      </a:solidFill>
                      <a:prstDash val="solid"/>
                    </a:lnL>
                    <a:lnR w="9525">
                      <a:solidFill>
                        <a:srgbClr val="D0D9DF"/>
                      </a:solidFill>
                      <a:prstDash val="solid"/>
                    </a:lnR>
                    <a:lnT w="9525">
                      <a:solidFill>
                        <a:srgbClr val="D0D9DF"/>
                      </a:solidFill>
                      <a:prstDash val="solid"/>
                    </a:lnT>
                    <a:lnB w="9525">
                      <a:solidFill>
                        <a:srgbClr val="D0D9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2" name="object 2" descr=""/>
          <p:cNvSpPr txBox="1"/>
          <p:nvPr/>
        </p:nvSpPr>
        <p:spPr>
          <a:xfrm>
            <a:off x="735012" y="3032030"/>
            <a:ext cx="2415540" cy="601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700" spc="-375" b="1">
                <a:solidFill>
                  <a:srgbClr val="214466"/>
                </a:solidFill>
                <a:latin typeface="Trebuchet MS"/>
                <a:cs typeface="Trebuchet MS"/>
              </a:rPr>
              <a:t>15.</a:t>
            </a:r>
            <a:r>
              <a:rPr dirty="0" sz="3700" spc="-560" b="1">
                <a:solidFill>
                  <a:srgbClr val="214466"/>
                </a:solidFill>
                <a:latin typeface="Trebuchet MS"/>
                <a:cs typeface="Trebuchet MS"/>
              </a:rPr>
              <a:t> </a:t>
            </a:r>
            <a:r>
              <a:rPr dirty="0" sz="3700" spc="-140" b="1">
                <a:solidFill>
                  <a:srgbClr val="214466"/>
                </a:solidFill>
                <a:latin typeface="Trebuchet MS"/>
                <a:cs typeface="Trebuchet MS"/>
              </a:rPr>
              <a:t>K</a:t>
            </a:r>
            <a:r>
              <a:rPr dirty="0" sz="3750" spc="-140" b="1">
                <a:solidFill>
                  <a:srgbClr val="214466"/>
                </a:solidFill>
                <a:latin typeface="Arial"/>
                <a:cs typeface="Arial"/>
              </a:rPr>
              <a:t>ế</a:t>
            </a:r>
            <a:r>
              <a:rPr dirty="0" sz="3650" spc="-140" b="1">
                <a:solidFill>
                  <a:srgbClr val="214466"/>
                </a:solidFill>
                <a:latin typeface="Arial"/>
                <a:cs typeface="Arial"/>
              </a:rPr>
              <a:t>t</a:t>
            </a:r>
            <a:r>
              <a:rPr dirty="0" sz="3650" spc="-245" b="1">
                <a:solidFill>
                  <a:srgbClr val="214466"/>
                </a:solidFill>
                <a:latin typeface="Arial"/>
                <a:cs typeface="Arial"/>
              </a:rPr>
              <a:t> </a:t>
            </a:r>
            <a:r>
              <a:rPr dirty="0" sz="3700" spc="-200" b="1">
                <a:solidFill>
                  <a:srgbClr val="214466"/>
                </a:solidFill>
                <a:latin typeface="Trebuchet MS"/>
                <a:cs typeface="Trebuchet MS"/>
              </a:rPr>
              <a:t>L</a:t>
            </a:r>
            <a:r>
              <a:rPr dirty="0" sz="3650" spc="-200" b="1">
                <a:solidFill>
                  <a:srgbClr val="214466"/>
                </a:solidFill>
                <a:latin typeface="Arial"/>
                <a:cs typeface="Arial"/>
              </a:rPr>
              <a:t>u</a:t>
            </a:r>
            <a:r>
              <a:rPr dirty="0" sz="3750" spc="-200" b="1">
                <a:solidFill>
                  <a:srgbClr val="214466"/>
                </a:solidFill>
                <a:latin typeface="Arial"/>
                <a:cs typeface="Arial"/>
              </a:rPr>
              <a:t>ậ</a:t>
            </a:r>
            <a:r>
              <a:rPr dirty="0" sz="3650" spc="-200" b="1">
                <a:solidFill>
                  <a:srgbClr val="214466"/>
                </a:solidFill>
                <a:latin typeface="Arial"/>
                <a:cs typeface="Arial"/>
              </a:rPr>
              <a:t>n</a:t>
            </a:r>
            <a:endParaRPr sz="36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 b="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 b="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 b="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 b="0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 b="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 b="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 b="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 b="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 b="0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 b="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 b="0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 b="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 b="0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 b="0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 b="0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 b="0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 b="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 b="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 b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 b="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 b="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 b="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85">
                <a:solidFill>
                  <a:srgbClr val="1F2328"/>
                </a:solidFill>
              </a:rPr>
              <a:t>K</a:t>
            </a:r>
            <a:r>
              <a:rPr dirty="0" sz="3050" spc="-185">
                <a:solidFill>
                  <a:srgbClr val="1F2328"/>
                </a:solidFill>
                <a:latin typeface="Arial"/>
                <a:cs typeface="Arial"/>
              </a:rPr>
              <a:t>e</a:t>
            </a:r>
            <a:r>
              <a:rPr dirty="0" sz="3000" spc="-185">
                <a:solidFill>
                  <a:srgbClr val="1F2328"/>
                </a:solidFill>
                <a:latin typeface="Arial"/>
                <a:cs typeface="Arial"/>
              </a:rPr>
              <a:t>y</a:t>
            </a:r>
            <a:r>
              <a:rPr dirty="0" sz="3000" spc="-2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20">
                <a:solidFill>
                  <a:srgbClr val="1F2328"/>
                </a:solidFill>
              </a:rPr>
              <a:t>T</a:t>
            </a:r>
            <a:r>
              <a:rPr dirty="0" sz="3050" spc="-220">
                <a:solidFill>
                  <a:srgbClr val="1F2328"/>
                </a:solidFill>
                <a:latin typeface="Arial"/>
                <a:cs typeface="Arial"/>
              </a:rPr>
              <a:t>akea</a:t>
            </a:r>
            <a:r>
              <a:rPr dirty="0" sz="3000" spc="-220">
                <a:solidFill>
                  <a:srgbClr val="1F2328"/>
                </a:solidFill>
                <a:latin typeface="Arial"/>
                <a:cs typeface="Arial"/>
              </a:rPr>
              <a:t>w</a:t>
            </a:r>
            <a:r>
              <a:rPr dirty="0" sz="3050" spc="-220">
                <a:solidFill>
                  <a:srgbClr val="1F2328"/>
                </a:solidFill>
                <a:latin typeface="Arial"/>
                <a:cs typeface="Arial"/>
              </a:rPr>
              <a:t>a</a:t>
            </a:r>
            <a:r>
              <a:rPr dirty="0" sz="3000" spc="-220">
                <a:solidFill>
                  <a:srgbClr val="1F2328"/>
                </a:solidFill>
                <a:latin typeface="Arial"/>
                <a:cs typeface="Arial"/>
              </a:rPr>
              <a:t>ys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790825"/>
            <a:ext cx="85725" cy="8572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87462" y="2475494"/>
            <a:ext cx="6235065" cy="2444750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300" spc="-85">
                <a:solidFill>
                  <a:srgbClr val="1F2328"/>
                </a:solidFill>
                <a:latin typeface="Trebuchet MS"/>
                <a:cs typeface="Trebuchet MS"/>
              </a:rPr>
              <a:t>K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iến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trúc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M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icroservices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modular</a:t>
            </a:r>
            <a:r>
              <a:rPr dirty="0" sz="2300" spc="-114">
                <a:solidFill>
                  <a:srgbClr val="1F2328"/>
                </a:solidFill>
                <a:latin typeface="Gill Sans MT"/>
                <a:cs typeface="Gill Sans MT"/>
              </a:rPr>
              <a:t>,</a:t>
            </a:r>
            <a:r>
              <a:rPr dirty="0" sz="2300" spc="-215">
                <a:solidFill>
                  <a:srgbClr val="1F2328"/>
                </a:solidFill>
                <a:latin typeface="Gill Sans MT"/>
                <a:cs typeface="Gill Sans MT"/>
              </a:rPr>
              <a:t> </a:t>
            </a:r>
            <a:r>
              <a:rPr dirty="0" sz="2300" spc="-130">
                <a:solidFill>
                  <a:srgbClr val="1F2328"/>
                </a:solidFill>
                <a:latin typeface="Arial"/>
                <a:cs typeface="Arial"/>
              </a:rPr>
              <a:t>dễ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60">
                <a:solidFill>
                  <a:srgbClr val="1F2328"/>
                </a:solidFill>
                <a:latin typeface="Arial"/>
                <a:cs typeface="Arial"/>
              </a:rPr>
              <a:t>mở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rộng</a:t>
            </a:r>
            <a:endParaRPr sz="2300">
              <a:latin typeface="Arial"/>
              <a:cs typeface="Arial"/>
            </a:endParaRPr>
          </a:p>
          <a:p>
            <a:pPr marL="12700" marR="5080">
              <a:lnSpc>
                <a:spcPct val="135900"/>
              </a:lnSpc>
              <a:spcBef>
                <a:spcPts val="75"/>
              </a:spcBef>
            </a:pPr>
            <a:r>
              <a:rPr dirty="0" sz="2300" spc="-80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80">
                <a:solidFill>
                  <a:srgbClr val="1F2328"/>
                </a:solidFill>
                <a:latin typeface="Arial"/>
                <a:cs typeface="Arial"/>
              </a:rPr>
              <a:t>ore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adaptive 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learning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functionality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hoạt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động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Gill Sans MT"/>
                <a:cs typeface="Gill Sans MT"/>
              </a:rPr>
              <a:t>100</a:t>
            </a:r>
            <a:r>
              <a:rPr dirty="0" sz="2300" spc="-20">
                <a:solidFill>
                  <a:srgbClr val="1F2328"/>
                </a:solidFill>
                <a:latin typeface="Georgia"/>
                <a:cs typeface="Georgia"/>
              </a:rPr>
              <a:t>%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ode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quality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metrics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đạt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0">
                <a:solidFill>
                  <a:srgbClr val="1F2328"/>
                </a:solidFill>
                <a:latin typeface="Arial"/>
                <a:cs typeface="Arial"/>
              </a:rPr>
              <a:t>mục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20">
                <a:solidFill>
                  <a:srgbClr val="1F2328"/>
                </a:solidFill>
                <a:latin typeface="Arial"/>
                <a:cs typeface="Arial"/>
              </a:rPr>
              <a:t>tiêu</a:t>
            </a:r>
            <a:endParaRPr sz="2300">
              <a:latin typeface="Arial"/>
              <a:cs typeface="Arial"/>
            </a:endParaRPr>
          </a:p>
          <a:p>
            <a:pPr marL="12700" marR="147955">
              <a:lnSpc>
                <a:spcPct val="138600"/>
              </a:lnSpc>
            </a:pP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lean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75">
                <a:solidFill>
                  <a:srgbClr val="1F2328"/>
                </a:solidFill>
                <a:latin typeface="Trebuchet MS"/>
                <a:cs typeface="Trebuchet MS"/>
              </a:rPr>
              <a:t>A</a:t>
            </a:r>
            <a:r>
              <a:rPr dirty="0" sz="2300" spc="-75">
                <a:solidFill>
                  <a:srgbClr val="1F2328"/>
                </a:solidFill>
                <a:latin typeface="Arial"/>
                <a:cs typeface="Arial"/>
              </a:rPr>
              <a:t>rchitecture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đảm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25">
                <a:solidFill>
                  <a:srgbClr val="1F2328"/>
                </a:solidFill>
                <a:latin typeface="Arial"/>
                <a:cs typeface="Arial"/>
              </a:rPr>
              <a:t>bảo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separation </a:t>
            </a:r>
            <a:r>
              <a:rPr dirty="0" sz="2300" spc="-60">
                <a:solidFill>
                  <a:srgbClr val="1F2328"/>
                </a:solidFill>
                <a:latin typeface="Arial"/>
                <a:cs typeface="Arial"/>
              </a:rPr>
              <a:t>of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45">
                <a:solidFill>
                  <a:srgbClr val="1F2328"/>
                </a:solidFill>
                <a:latin typeface="Arial"/>
                <a:cs typeface="Arial"/>
              </a:rPr>
              <a:t>concerns </a:t>
            </a:r>
            <a:r>
              <a:rPr dirty="0" sz="2300" spc="-35">
                <a:solidFill>
                  <a:srgbClr val="1F2328"/>
                </a:solidFill>
                <a:latin typeface="Trebuchet MS"/>
                <a:cs typeface="Trebuchet MS"/>
              </a:rPr>
              <a:t>E</a:t>
            </a:r>
            <a:r>
              <a:rPr dirty="0" sz="2300" spc="-35">
                <a:solidFill>
                  <a:srgbClr val="1F2328"/>
                </a:solidFill>
                <a:latin typeface="Arial"/>
                <a:cs typeface="Arial"/>
              </a:rPr>
              <a:t>vent</a:t>
            </a:r>
            <a:r>
              <a:rPr dirty="0" sz="2300" spc="-35">
                <a:solidFill>
                  <a:srgbClr val="1F2328"/>
                </a:solidFill>
                <a:latin typeface="Gill Sans MT"/>
                <a:cs typeface="Gill Sans MT"/>
              </a:rPr>
              <a:t>-</a:t>
            </a:r>
            <a:r>
              <a:rPr dirty="0" sz="2300" spc="-100">
                <a:solidFill>
                  <a:srgbClr val="1F2328"/>
                </a:solidFill>
                <a:latin typeface="Arial"/>
                <a:cs typeface="Arial"/>
              </a:rPr>
              <a:t>driven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>
                <a:solidFill>
                  <a:srgbClr val="1F2328"/>
                </a:solidFill>
                <a:latin typeface="Arial"/>
                <a:cs typeface="Arial"/>
              </a:rPr>
              <a:t>giảm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85">
                <a:solidFill>
                  <a:srgbClr val="1F2328"/>
                </a:solidFill>
                <a:latin typeface="Arial"/>
                <a:cs typeface="Arial"/>
              </a:rPr>
              <a:t>coupling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60">
                <a:solidFill>
                  <a:srgbClr val="1F2328"/>
                </a:solidFill>
                <a:latin typeface="Arial"/>
                <a:cs typeface="Arial"/>
              </a:rPr>
              <a:t>giữa</a:t>
            </a:r>
            <a:r>
              <a:rPr dirty="0" sz="2300" spc="-105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services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276600"/>
            <a:ext cx="85725" cy="8572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3752850"/>
            <a:ext cx="85725" cy="8572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238625"/>
            <a:ext cx="85725" cy="8572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724400"/>
            <a:ext cx="85725" cy="8572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205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5"/>
              <a:t>16.</a:t>
            </a:r>
            <a:r>
              <a:rPr dirty="0" spc="-550"/>
              <a:t> </a:t>
            </a:r>
            <a:r>
              <a:rPr dirty="0" spc="-25"/>
              <a:t>Q&amp;A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010025"/>
            <a:ext cx="85725" cy="8572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495800"/>
            <a:ext cx="85725" cy="857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981575"/>
            <a:ext cx="85725" cy="8572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735012" y="2502815"/>
            <a:ext cx="3687445" cy="267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-110" b="1">
                <a:solidFill>
                  <a:srgbClr val="1F2328"/>
                </a:solidFill>
                <a:latin typeface="Trebuchet MS"/>
                <a:cs typeface="Trebuchet MS"/>
              </a:rPr>
              <a:t>C</a:t>
            </a:r>
            <a:r>
              <a:rPr dirty="0" sz="3050" spc="-110" b="1">
                <a:solidFill>
                  <a:srgbClr val="1F2328"/>
                </a:solidFill>
                <a:latin typeface="Arial"/>
                <a:cs typeface="Arial"/>
              </a:rPr>
              <a:t>ả</a:t>
            </a:r>
            <a:r>
              <a:rPr dirty="0" sz="3000" spc="-110" b="1">
                <a:solidFill>
                  <a:srgbClr val="1F2328"/>
                </a:solidFill>
                <a:latin typeface="Arial"/>
                <a:cs typeface="Arial"/>
              </a:rPr>
              <a:t>m</a:t>
            </a:r>
            <a:r>
              <a:rPr dirty="0" sz="3000" spc="-20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395" b="1">
                <a:solidFill>
                  <a:srgbClr val="1F2328"/>
                </a:solidFill>
                <a:latin typeface="Arial"/>
                <a:cs typeface="Arial"/>
              </a:rPr>
              <a:t>ơn</a:t>
            </a:r>
            <a:r>
              <a:rPr dirty="0" sz="3000" spc="-20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50" spc="-190" b="1">
                <a:solidFill>
                  <a:srgbClr val="1F2328"/>
                </a:solidFill>
                <a:latin typeface="Arial"/>
                <a:cs typeface="Arial"/>
              </a:rPr>
              <a:t>đã</a:t>
            </a:r>
            <a:r>
              <a:rPr dirty="0" sz="3050" spc="-21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210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3050" spc="-210" b="1">
                <a:solidFill>
                  <a:srgbClr val="1F2328"/>
                </a:solidFill>
                <a:latin typeface="Arial"/>
                <a:cs typeface="Arial"/>
              </a:rPr>
              <a:t>ắ</a:t>
            </a:r>
            <a:r>
              <a:rPr dirty="0" sz="3000" spc="-21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210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3050" spc="-21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3000" spc="-1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3050" spc="-10" b="1">
                <a:solidFill>
                  <a:srgbClr val="1F2328"/>
                </a:solidFill>
                <a:latin typeface="Arial"/>
                <a:cs typeface="Arial"/>
              </a:rPr>
              <a:t>ghe</a:t>
            </a:r>
            <a:r>
              <a:rPr dirty="0" sz="3000" spc="-10" b="1">
                <a:solidFill>
                  <a:srgbClr val="1F2328"/>
                </a:solidFill>
                <a:latin typeface="Gill Sans MT"/>
                <a:cs typeface="Gill Sans MT"/>
              </a:rPr>
              <a:t>!</a:t>
            </a:r>
            <a:endParaRPr sz="30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2290"/>
              </a:spcBef>
            </a:pP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50" spc="-165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00" spc="-165" b="1">
                <a:solidFill>
                  <a:srgbClr val="1F2328"/>
                </a:solidFill>
                <a:latin typeface="Arial"/>
                <a:cs typeface="Arial"/>
              </a:rPr>
              <a:t>ôn</a:t>
            </a:r>
            <a:r>
              <a:rPr dirty="0" sz="2350" spc="-165" b="1">
                <a:solidFill>
                  <a:srgbClr val="1F2328"/>
                </a:solidFill>
                <a:latin typeface="Arial"/>
                <a:cs typeface="Arial"/>
              </a:rPr>
              <a:t>g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t</a:t>
            </a:r>
            <a:r>
              <a:rPr dirty="0" sz="2350" spc="-114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14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l</a:t>
            </a:r>
            <a:r>
              <a:rPr dirty="0" sz="2350" spc="-145" b="1">
                <a:solidFill>
                  <a:srgbClr val="1F2328"/>
                </a:solidFill>
                <a:latin typeface="Arial"/>
                <a:cs typeface="Arial"/>
              </a:rPr>
              <a:t>iê</a:t>
            </a:r>
            <a:r>
              <a:rPr dirty="0" sz="2300" spc="-14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3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50" spc="-25" b="1">
                <a:solidFill>
                  <a:srgbClr val="1F2328"/>
                </a:solidFill>
                <a:latin typeface="Arial"/>
                <a:cs typeface="Arial"/>
              </a:rPr>
              <a:t>hệ</a:t>
            </a:r>
            <a:r>
              <a:rPr dirty="0" sz="2300" spc="-2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endParaRPr sz="2300">
              <a:latin typeface="Trebuchet MS"/>
              <a:cs typeface="Trebuchet MS"/>
            </a:endParaRPr>
          </a:p>
          <a:p>
            <a:pPr marL="565150" marR="5080">
              <a:lnSpc>
                <a:spcPct val="137400"/>
              </a:lnSpc>
              <a:spcBef>
                <a:spcPts val="550"/>
              </a:spcBef>
            </a:pPr>
            <a:r>
              <a:rPr dirty="0" sz="2300" spc="-85" b="1">
                <a:solidFill>
                  <a:srgbClr val="1F2328"/>
                </a:solidFill>
                <a:latin typeface="Trebuchet MS"/>
                <a:cs typeface="Trebuchet MS"/>
              </a:rPr>
              <a:t>S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85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50" spc="-85" b="1">
                <a:solidFill>
                  <a:srgbClr val="1F2328"/>
                </a:solidFill>
                <a:latin typeface="Arial"/>
                <a:cs typeface="Arial"/>
              </a:rPr>
              <a:t>h</a:t>
            </a:r>
            <a:r>
              <a:rPr dirty="0" sz="2350" spc="-140" b="1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90" b="1">
                <a:solidFill>
                  <a:srgbClr val="1F2328"/>
                </a:solidFill>
                <a:latin typeface="Arial"/>
                <a:cs typeface="Arial"/>
              </a:rPr>
              <a:t>v</a:t>
            </a:r>
            <a:r>
              <a:rPr dirty="0" sz="2350" spc="-190" b="1">
                <a:solidFill>
                  <a:srgbClr val="1F2328"/>
                </a:solidFill>
                <a:latin typeface="Arial"/>
                <a:cs typeface="Arial"/>
              </a:rPr>
              <a:t>iê</a:t>
            </a:r>
            <a:r>
              <a:rPr dirty="0" sz="2300" spc="-190" b="1">
                <a:solidFill>
                  <a:srgbClr val="1F2328"/>
                </a:solidFill>
                <a:latin typeface="Arial"/>
                <a:cs typeface="Arial"/>
              </a:rPr>
              <a:t>n</a:t>
            </a:r>
            <a:r>
              <a:rPr dirty="0" sz="2300" spc="-190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70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90">
                <a:solidFill>
                  <a:srgbClr val="1F2328"/>
                </a:solidFill>
                <a:latin typeface="Trebuchet MS"/>
                <a:cs typeface="Trebuchet MS"/>
              </a:rPr>
              <a:t>N</a:t>
            </a:r>
            <a:r>
              <a:rPr dirty="0" sz="2300" spc="-90">
                <a:solidFill>
                  <a:srgbClr val="1F2328"/>
                </a:solidFill>
                <a:latin typeface="Arial"/>
                <a:cs typeface="Arial"/>
              </a:rPr>
              <a:t>guyễn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170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170">
                <a:solidFill>
                  <a:srgbClr val="1F2328"/>
                </a:solidFill>
                <a:latin typeface="Arial"/>
                <a:cs typeface="Arial"/>
              </a:rPr>
              <a:t>ấn</a:t>
            </a:r>
            <a:r>
              <a:rPr dirty="0" sz="2300" spc="-110">
                <a:solidFill>
                  <a:srgbClr val="1F2328"/>
                </a:solidFill>
                <a:latin typeface="Arial"/>
                <a:cs typeface="Arial"/>
              </a:rPr>
              <a:t> </a:t>
            </a:r>
            <a:r>
              <a:rPr dirty="0" sz="2300" spc="-65">
                <a:solidFill>
                  <a:srgbClr val="1F2328"/>
                </a:solidFill>
                <a:latin typeface="Trebuchet MS"/>
                <a:cs typeface="Trebuchet MS"/>
              </a:rPr>
              <a:t>T</a:t>
            </a:r>
            <a:r>
              <a:rPr dirty="0" sz="2300" spc="-65">
                <a:solidFill>
                  <a:srgbClr val="1F2328"/>
                </a:solidFill>
                <a:latin typeface="Arial"/>
                <a:cs typeface="Arial"/>
              </a:rPr>
              <a:t>ài </a:t>
            </a:r>
            <a:r>
              <a:rPr dirty="0" sz="2300" b="1">
                <a:solidFill>
                  <a:srgbClr val="1F2328"/>
                </a:solidFill>
                <a:latin typeface="Trebuchet MS"/>
                <a:cs typeface="Trebuchet MS"/>
              </a:rPr>
              <a:t>MSSV:</a:t>
            </a:r>
            <a:r>
              <a:rPr dirty="0" sz="2300" spc="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90">
                <a:solidFill>
                  <a:srgbClr val="1F2328"/>
                </a:solidFill>
                <a:latin typeface="Gill Sans MT"/>
                <a:cs typeface="Gill Sans MT"/>
              </a:rPr>
              <a:t>2212990</a:t>
            </a:r>
            <a:endParaRPr sz="2300">
              <a:latin typeface="Gill Sans MT"/>
              <a:cs typeface="Gill Sans MT"/>
            </a:endParaRPr>
          </a:p>
          <a:p>
            <a:pPr marL="565150">
              <a:lnSpc>
                <a:spcPct val="100000"/>
              </a:lnSpc>
              <a:spcBef>
                <a:spcPts val="1015"/>
              </a:spcBef>
            </a:pP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P</a:t>
            </a:r>
            <a:r>
              <a:rPr dirty="0" sz="2300" spc="-165" b="1">
                <a:solidFill>
                  <a:srgbClr val="1F2328"/>
                </a:solidFill>
                <a:latin typeface="Arial"/>
                <a:cs typeface="Arial"/>
              </a:rPr>
              <a:t>or</a:t>
            </a:r>
            <a:r>
              <a:rPr dirty="0" sz="2350" spc="-165" b="1">
                <a:solidFill>
                  <a:srgbClr val="1F2328"/>
                </a:solidFill>
                <a:latin typeface="Arial"/>
                <a:cs typeface="Arial"/>
              </a:rPr>
              <a:t>f</a:t>
            </a:r>
            <a:r>
              <a:rPr dirty="0" sz="2300" spc="-165" b="1">
                <a:solidFill>
                  <a:srgbClr val="1F2328"/>
                </a:solidFill>
                <a:latin typeface="Arial"/>
                <a:cs typeface="Arial"/>
              </a:rPr>
              <a:t>ol</a:t>
            </a:r>
            <a:r>
              <a:rPr dirty="0" sz="2350" spc="-165" b="1">
                <a:solidFill>
                  <a:srgbClr val="1F2328"/>
                </a:solidFill>
                <a:latin typeface="Arial"/>
                <a:cs typeface="Arial"/>
              </a:rPr>
              <a:t>i</a:t>
            </a:r>
            <a:r>
              <a:rPr dirty="0" sz="2300" spc="-165" b="1">
                <a:solidFill>
                  <a:srgbClr val="1F2328"/>
                </a:solidFill>
                <a:latin typeface="Arial"/>
                <a:cs typeface="Arial"/>
              </a:rPr>
              <a:t>o</a:t>
            </a:r>
            <a:r>
              <a:rPr dirty="0" sz="2300" spc="-165" b="1">
                <a:solidFill>
                  <a:srgbClr val="1F2328"/>
                </a:solidFill>
                <a:latin typeface="Trebuchet MS"/>
                <a:cs typeface="Trebuchet MS"/>
              </a:rPr>
              <a:t>:</a:t>
            </a:r>
            <a:r>
              <a:rPr dirty="0" sz="2300" spc="-105" b="1">
                <a:solidFill>
                  <a:srgbClr val="1F2328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tantai</a:t>
            </a:r>
            <a:r>
              <a:rPr dirty="0" sz="2300" spc="-10">
                <a:solidFill>
                  <a:srgbClr val="1F2328"/>
                </a:solidFill>
                <a:latin typeface="Gill Sans MT"/>
                <a:cs typeface="Gill Sans MT"/>
              </a:rPr>
              <a:t>.</a:t>
            </a:r>
            <a:r>
              <a:rPr dirty="0" sz="2300" spc="-10">
                <a:solidFill>
                  <a:srgbClr val="1F2328"/>
                </a:solidFill>
                <a:latin typeface="Arial"/>
                <a:cs typeface="Arial"/>
              </a:rPr>
              <a:t>dev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195"/>
              </a:lnSpc>
            </a:pPr>
            <a:fld id="{81D60167-4931-47E6-BA6A-407CBD079E47}" type="slidenum">
              <a:rPr dirty="0" spc="45"/>
              <a:t>36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85"/>
              </a:lnSpc>
            </a:pPr>
            <a:r>
              <a:rPr dirty="0" spc="-60">
                <a:latin typeface="Lucida Sans"/>
                <a:cs typeface="Lucida Sans"/>
              </a:rPr>
              <a:t>CO</a:t>
            </a:r>
            <a:r>
              <a:rPr dirty="0" spc="-60">
                <a:latin typeface="Trebuchet MS"/>
                <a:cs typeface="Trebuchet MS"/>
              </a:rPr>
              <a:t>3017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35">
                <a:latin typeface="Lucida Sans"/>
                <a:cs typeface="Lucida Sans"/>
              </a:rPr>
              <a:t>S</a:t>
            </a:r>
            <a:r>
              <a:rPr dirty="0" spc="-35"/>
              <a:t>o</a:t>
            </a:r>
            <a:r>
              <a:rPr dirty="0" sz="1500" spc="-35"/>
              <a:t>f</a:t>
            </a:r>
            <a:r>
              <a:rPr dirty="0" spc="-35"/>
              <a:t>tw</a:t>
            </a:r>
            <a:r>
              <a:rPr dirty="0" sz="1500" spc="-35"/>
              <a:t>a</a:t>
            </a:r>
            <a:r>
              <a:rPr dirty="0" spc="-35"/>
              <a:t>r</a:t>
            </a:r>
            <a:r>
              <a:rPr dirty="0" sz="1500" spc="-35"/>
              <a:t>e</a:t>
            </a:r>
            <a:r>
              <a:rPr dirty="0" sz="1500" spc="-70"/>
              <a:t> </a:t>
            </a:r>
            <a:r>
              <a:rPr dirty="0" spc="-50">
                <a:latin typeface="Lucida Sans"/>
                <a:cs typeface="Lucida Sans"/>
              </a:rPr>
              <a:t>A</a:t>
            </a:r>
            <a:r>
              <a:rPr dirty="0" spc="-50"/>
              <a:t>r</a:t>
            </a:r>
            <a:r>
              <a:rPr dirty="0" sz="1500" spc="-50"/>
              <a:t>chi</a:t>
            </a:r>
            <a:r>
              <a:rPr dirty="0" spc="-50"/>
              <a:t>t</a:t>
            </a:r>
            <a:r>
              <a:rPr dirty="0" sz="1500" spc="-50"/>
              <a:t>ec</a:t>
            </a:r>
            <a:r>
              <a:rPr dirty="0" spc="-50"/>
              <a:t>tur</a:t>
            </a:r>
            <a:r>
              <a:rPr dirty="0" sz="1500" spc="-50"/>
              <a:t>e</a:t>
            </a:r>
            <a:r>
              <a:rPr dirty="0" sz="1500" spc="-75"/>
              <a:t> </a:t>
            </a:r>
            <a:r>
              <a:rPr dirty="0" spc="95">
                <a:latin typeface="Trebuchet MS"/>
                <a:cs typeface="Trebuchet MS"/>
              </a:rPr>
              <a:t>-</a:t>
            </a:r>
            <a:r>
              <a:rPr dirty="0" spc="-95">
                <a:latin typeface="Trebuchet MS"/>
                <a:cs typeface="Trebuchet MS"/>
              </a:rPr>
              <a:t> </a:t>
            </a:r>
            <a:r>
              <a:rPr dirty="0" spc="-25">
                <a:latin typeface="Lucida Sans"/>
                <a:cs typeface="Lucida Sans"/>
              </a:rPr>
              <a:t>HK</a:t>
            </a:r>
            <a:r>
              <a:rPr dirty="0" spc="-25">
                <a:latin typeface="Trebuchet MS"/>
                <a:cs typeface="Trebuchet MS"/>
              </a:rPr>
              <a:t>251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3050" y="188452"/>
            <a:ext cx="4798060" cy="25272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Ð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ại</a:t>
            </a:r>
            <a:r>
              <a:rPr dirty="0" sz="1500" spc="-8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666666"/>
                </a:solidFill>
                <a:latin typeface="Lucida Sans"/>
                <a:cs typeface="Lucida Sans"/>
              </a:rPr>
              <a:t>H</a:t>
            </a:r>
            <a:r>
              <a:rPr dirty="0" sz="1450" spc="-50">
                <a:solidFill>
                  <a:srgbClr val="666666"/>
                </a:solidFill>
                <a:latin typeface="Arial"/>
                <a:cs typeface="Arial"/>
              </a:rPr>
              <a:t>ọ</a:t>
            </a:r>
            <a:r>
              <a:rPr dirty="0" sz="1500" spc="-50">
                <a:solidFill>
                  <a:srgbClr val="666666"/>
                </a:solidFill>
                <a:latin typeface="Arial"/>
                <a:cs typeface="Arial"/>
              </a:rPr>
              <a:t>c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55">
                <a:solidFill>
                  <a:srgbClr val="666666"/>
                </a:solidFill>
                <a:latin typeface="Lucida Sans"/>
                <a:cs typeface="Lucida Sans"/>
              </a:rPr>
              <a:t>B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ách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90">
                <a:solidFill>
                  <a:srgbClr val="666666"/>
                </a:solidFill>
                <a:latin typeface="Lucida Sans"/>
                <a:cs typeface="Lucida Sans"/>
              </a:rPr>
              <a:t>K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h</a:t>
            </a:r>
            <a:r>
              <a:rPr dirty="0" sz="1450" spc="-90">
                <a:solidFill>
                  <a:srgbClr val="666666"/>
                </a:solidFill>
                <a:latin typeface="Arial"/>
                <a:cs typeface="Arial"/>
              </a:rPr>
              <a:t>o</a:t>
            </a:r>
            <a:r>
              <a:rPr dirty="0" sz="1500" spc="-90">
                <a:solidFill>
                  <a:srgbClr val="666666"/>
                </a:solidFill>
                <a:latin typeface="Arial"/>
                <a:cs typeface="Arial"/>
              </a:rPr>
              <a:t>a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20">
                <a:solidFill>
                  <a:srgbClr val="666666"/>
                </a:solidFill>
                <a:latin typeface="Lucida Sans"/>
                <a:cs typeface="Lucida Sans"/>
              </a:rPr>
              <a:t>P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-95">
                <a:solidFill>
                  <a:srgbClr val="666666"/>
                </a:solidFill>
                <a:latin typeface="Lucida Sans"/>
                <a:cs typeface="Lucida Sans"/>
              </a:rPr>
              <a:t>HCM</a:t>
            </a:r>
            <a:r>
              <a:rPr dirty="0" sz="1450" spc="-120">
                <a:solidFill>
                  <a:srgbClr val="666666"/>
                </a:solidFill>
                <a:latin typeface="Lucida Sans"/>
                <a:cs typeface="Lucida Sans"/>
              </a:rPr>
              <a:t> </a:t>
            </a:r>
            <a:r>
              <a:rPr dirty="0" sz="1450" spc="95">
                <a:solidFill>
                  <a:srgbClr val="666666"/>
                </a:solidFill>
                <a:latin typeface="Trebuchet MS"/>
                <a:cs typeface="Trebuchet MS"/>
              </a:rPr>
              <a:t>-</a:t>
            </a:r>
            <a:r>
              <a:rPr dirty="0" sz="1450" spc="-100">
                <a:solidFill>
                  <a:srgbClr val="666666"/>
                </a:solidFill>
                <a:latin typeface="Trebuchet MS"/>
                <a:cs typeface="Trebuchet MS"/>
              </a:rPr>
              <a:t> </a:t>
            </a:r>
            <a:r>
              <a:rPr dirty="0" sz="1450" spc="-45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ll</a:t>
            </a:r>
            <a:r>
              <a:rPr dirty="0" sz="1500" spc="-45">
                <a:solidFill>
                  <a:srgbClr val="666666"/>
                </a:solidFill>
                <a:latin typeface="Arial"/>
                <a:cs typeface="Arial"/>
              </a:rPr>
              <a:t>ige</a:t>
            </a:r>
            <a:r>
              <a:rPr dirty="0" sz="1450" spc="-45">
                <a:solidFill>
                  <a:srgbClr val="666666"/>
                </a:solidFill>
                <a:latin typeface="Arial"/>
                <a:cs typeface="Arial"/>
              </a:rPr>
              <a:t>nt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utor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i</a:t>
            </a:r>
            <a:r>
              <a:rPr dirty="0" sz="1450" spc="-55">
                <a:solidFill>
                  <a:srgbClr val="666666"/>
                </a:solidFill>
                <a:latin typeface="Arial"/>
                <a:cs typeface="Arial"/>
              </a:rPr>
              <a:t>n</a:t>
            </a:r>
            <a:r>
              <a:rPr dirty="0" sz="1500" spc="-55">
                <a:solidFill>
                  <a:srgbClr val="666666"/>
                </a:solidFill>
                <a:latin typeface="Arial"/>
                <a:cs typeface="Arial"/>
              </a:rPr>
              <a:t>g</a:t>
            </a:r>
            <a:r>
              <a:rPr dirty="0" sz="1500" spc="-8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4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yst</a:t>
            </a:r>
            <a:r>
              <a:rPr dirty="0" sz="1500" spc="-40">
                <a:solidFill>
                  <a:srgbClr val="666666"/>
                </a:solidFill>
                <a:latin typeface="Arial"/>
                <a:cs typeface="Arial"/>
              </a:rPr>
              <a:t>e</a:t>
            </a:r>
            <a:r>
              <a:rPr dirty="0" sz="1450" spc="-40">
                <a:solidFill>
                  <a:srgbClr val="666666"/>
                </a:solidFill>
                <a:latin typeface="Arial"/>
                <a:cs typeface="Arial"/>
              </a:rPr>
              <a:t>m</a:t>
            </a:r>
            <a:r>
              <a:rPr dirty="0" sz="1450" spc="-6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(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I</a:t>
            </a:r>
            <a:r>
              <a:rPr dirty="0" sz="1400" spc="-10">
                <a:solidFill>
                  <a:srgbClr val="666666"/>
                </a:solidFill>
                <a:latin typeface="Lucida Sans"/>
                <a:cs typeface="Lucida Sans"/>
              </a:rPr>
              <a:t>T</a:t>
            </a:r>
            <a:r>
              <a:rPr dirty="0" sz="1450" spc="-10">
                <a:solidFill>
                  <a:srgbClr val="666666"/>
                </a:solidFill>
                <a:latin typeface="Lucida Sans"/>
                <a:cs typeface="Lucida Sans"/>
              </a:rPr>
              <a:t>S</a:t>
            </a:r>
            <a:r>
              <a:rPr dirty="0" sz="1450" spc="-10">
                <a:solidFill>
                  <a:srgbClr val="666666"/>
                </a:solidFill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Tutoring System - ITS</dc:title>
  <dcterms:created xsi:type="dcterms:W3CDTF">2025-12-07T13:18:18Z</dcterms:created>
  <dcterms:modified xsi:type="dcterms:W3CDTF">2025-12-07T13:18:18Z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2025-12-07T00:00:00Z</vt:filetime>
  </property>
  <property fmtid="{D5CDD505-2E9C-101B-9397-08002B2CF9AE}" pid="3" name="Creator">
    <vt:lpwstr>Created by Marp</vt:lpwstr>
  </property>
  <property fmtid="{D5CDD505-2E9C-101B-9397-08002B2CF9AE}" pid="4" name="LastSaved">
    <vt:filetime>2025-12-07T00:00:00Z</vt:filetime>
  </property>
  <property fmtid="{D5CDD505-2E9C-101B-9397-08002B2CF9AE}" pid="5" name="Producer">
    <vt:lpwstr>3-Heights(TM) PDF Security Shell 4.8.25.2 (http://www.pdf-tools.com)</vt:lpwstr>
  </property>
</Properties>
</file>